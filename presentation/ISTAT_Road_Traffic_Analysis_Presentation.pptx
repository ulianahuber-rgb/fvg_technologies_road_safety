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2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2A4"/>
    <a:srgbClr val="058BA3"/>
    <a:srgbClr val="465A70"/>
    <a:srgbClr val="234366"/>
    <a:srgbClr val="B87D07"/>
    <a:srgbClr val="368FA3"/>
    <a:srgbClr val="456B85"/>
    <a:srgbClr val="54A0D6"/>
    <a:srgbClr val="C66B50"/>
    <a:srgbClr val="8721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873F4-EEE3-36B2-F4FA-0F7F970C498A}" v="473" dt="2026-10-16T13:23:16.050"/>
    <p1510:client id="{67AF7F71-2281-0B7C-2F64-81517E9B7DAE}" v="1079" dt="2026-10-16T14:49:01.677"/>
    <p1510:client id="{FEE4DEC9-7875-4149-8678-AC130446930F}" v="157" dt="2026-10-16T15:38:32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5FF0E-F48C-47C2-9847-1280B3D7AD88}" type="datetimeFigureOut">
              <a:t>16.10.2026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B508C-C5D6-4681-82BE-72C67534F637}" type="slidenum">
              <a:t>‹№›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954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B508C-C5D6-4681-82BE-72C67534F637}" type="slidenum"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6848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B508C-C5D6-4681-82BE-72C67534F637}" type="slidenum"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7755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B508C-C5D6-4681-82BE-72C67534F637}" type="slidenum"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015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B508C-C5D6-4681-82BE-72C67534F637}" type="slidenum"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095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10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05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14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4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40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55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0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8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03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47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‹№›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81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3" r:id="rId1"/>
    <p:sldLayoutId id="2147484324" r:id="rId2"/>
    <p:sldLayoutId id="2147484325" r:id="rId3"/>
    <p:sldLayoutId id="2147484326" r:id="rId4"/>
    <p:sldLayoutId id="2147484327" r:id="rId5"/>
    <p:sldLayoutId id="2147484328" r:id="rId6"/>
    <p:sldLayoutId id="2147484329" r:id="rId7"/>
    <p:sldLayoutId id="2147484330" r:id="rId8"/>
    <p:sldLayoutId id="2147484331" r:id="rId9"/>
    <p:sldLayoutId id="2147484332" r:id="rId10"/>
    <p:sldLayoutId id="214748433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76318" y="1104921"/>
            <a:ext cx="8793356" cy="165143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de-DE" sz="5400" b="1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1">
                <a:solidFill>
                  <a:schemeClr val="bg2">
                    <a:lumMod val="25000"/>
                  </a:schemeClr>
                </a:solidFill>
                <a:latin typeface="Segoe UI"/>
                <a:ea typeface="Calibri"/>
                <a:cs typeface="Segoe UI"/>
              </a:rPr>
              <a:t>Where should we</a:t>
            </a:r>
            <a:endParaRPr lang="en-US" sz="4000">
              <a:solidFill>
                <a:schemeClr val="bg2">
                  <a:lumMod val="25000"/>
                </a:schemeClr>
              </a:solidFill>
              <a:latin typeface="Segoe UI"/>
              <a:ea typeface="Calibr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4000" b="1">
                <a:solidFill>
                  <a:schemeClr val="bg2">
                    <a:lumMod val="25000"/>
                  </a:schemeClr>
                </a:solidFill>
                <a:latin typeface="Segoe UI"/>
                <a:ea typeface="Calibri"/>
                <a:cs typeface="Segoe UI"/>
              </a:rPr>
              <a:t>expand next in Italy?</a:t>
            </a:r>
            <a:endParaRPr lang="en-US" sz="4000">
              <a:solidFill>
                <a:schemeClr val="bg2">
                  <a:lumMod val="25000"/>
                </a:schemeClr>
              </a:solidFill>
              <a:latin typeface="Segoe UI"/>
              <a:cs typeface="Segoe UI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1188" y="3290864"/>
            <a:ext cx="8100943" cy="9089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Analysing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ROAD</a:t>
            </a:r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accidents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across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Italian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municipalities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using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official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accident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population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 and area </a:t>
            </a:r>
            <a:r>
              <a:rPr lang="de-DE" sz="2000" dirty="0" err="1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data</a:t>
            </a:r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.</a:t>
            </a:r>
            <a:endParaRPr lang="it-IT">
              <a:solidFill>
                <a:schemeClr val="bg2">
                  <a:lumMod val="2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C1C265E-A43D-F02E-0981-ECBC0C3BBCD7}"/>
              </a:ext>
            </a:extLst>
          </p:cNvPr>
          <p:cNvSpPr txBox="1"/>
          <p:nvPr/>
        </p:nvSpPr>
        <p:spPr>
          <a:xfrm>
            <a:off x="68178" y="6487928"/>
            <a:ext cx="384099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000"/>
              <a:t>ISTAT Road Trafic Analysis</a:t>
            </a:r>
            <a:endParaRPr lang="it-IT" sz="1000" i="1">
              <a:ea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25D01B4-D8A7-4379-7FE6-0636CC83B00E}"/>
              </a:ext>
            </a:extLst>
          </p:cNvPr>
          <p:cNvSpPr txBox="1"/>
          <p:nvPr/>
        </p:nvSpPr>
        <p:spPr>
          <a:xfrm>
            <a:off x="3498880" y="5932421"/>
            <a:ext cx="154853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solidFill>
                  <a:srgbClr val="0A2F41"/>
                </a:solidFill>
              </a:rPr>
              <a:t>2020 - 2024</a:t>
            </a:r>
            <a:endParaRPr lang="it-IT" sz="1600">
              <a:solidFill>
                <a:srgbClr val="0A2F41"/>
              </a:solidFill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6019A4-570F-0356-A41E-84FDCF3B93EA}"/>
              </a:ext>
            </a:extLst>
          </p:cNvPr>
          <p:cNvSpPr txBox="1"/>
          <p:nvPr/>
        </p:nvSpPr>
        <p:spPr>
          <a:xfrm>
            <a:off x="6342049" y="5932420"/>
            <a:ext cx="1987657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solidFill>
                  <a:srgbClr val="0A2F41"/>
                </a:solidFill>
              </a:rPr>
              <a:t>Python * Power BI</a:t>
            </a:r>
            <a:endParaRPr lang="it-IT" sz="1600">
              <a:solidFill>
                <a:srgbClr val="0A2F41"/>
              </a:solidFill>
              <a:ea typeface="Calibri"/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D3A89A3-6E6B-4965-4D81-FB2FE1A3C652}"/>
              </a:ext>
            </a:extLst>
          </p:cNvPr>
          <p:cNvSpPr txBox="1"/>
          <p:nvPr/>
        </p:nvSpPr>
        <p:spPr>
          <a:xfrm>
            <a:off x="9847384" y="842596"/>
            <a:ext cx="2743199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0A2F41"/>
                </a:solidFill>
              </a:rPr>
              <a:t>775,951</a:t>
            </a:r>
            <a:endParaRPr lang="it-IT" sz="2900">
              <a:solidFill>
                <a:srgbClr val="0A2F41"/>
              </a:solidFill>
            </a:endParaRPr>
          </a:p>
          <a:p>
            <a:r>
              <a:rPr lang="en-US" sz="1200">
                <a:solidFill>
                  <a:srgbClr val="0A2F41"/>
                </a:solidFill>
              </a:rPr>
              <a:t>road accidents (2020–2024)</a:t>
            </a:r>
            <a:endParaRPr lang="it-IT" sz="1200">
              <a:solidFill>
                <a:srgbClr val="0A2F41"/>
              </a:solidFill>
            </a:endParaRPr>
          </a:p>
          <a:p>
            <a:pPr algn="l"/>
            <a:endParaRPr lang="it-IT" dirty="0">
              <a:solidFill>
                <a:srgbClr val="0A2F4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5C7E898-6EE3-887A-2965-486193160144}"/>
              </a:ext>
            </a:extLst>
          </p:cNvPr>
          <p:cNvSpPr txBox="1"/>
          <p:nvPr/>
        </p:nvSpPr>
        <p:spPr>
          <a:xfrm>
            <a:off x="9847384" y="1846384"/>
            <a:ext cx="274319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900" b="1">
                <a:solidFill>
                  <a:srgbClr val="0A2F41"/>
                </a:solidFill>
              </a:rPr>
              <a:t>1,045,938</a:t>
            </a:r>
          </a:p>
          <a:p>
            <a:r>
              <a:rPr lang="en-US" sz="1200">
                <a:solidFill>
                  <a:srgbClr val="0A2F41"/>
                </a:solidFill>
              </a:rPr>
              <a:t>people injured</a:t>
            </a:r>
          </a:p>
          <a:p>
            <a:endParaRPr lang="en-US" sz="2900" b="1" dirty="0">
              <a:solidFill>
                <a:srgbClr val="0A2F41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3684F25-515D-6996-BE66-DE3650080242}"/>
              </a:ext>
            </a:extLst>
          </p:cNvPr>
          <p:cNvSpPr txBox="1"/>
          <p:nvPr/>
        </p:nvSpPr>
        <p:spPr>
          <a:xfrm>
            <a:off x="9847385" y="3018692"/>
            <a:ext cx="2743199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0A2F41"/>
                </a:solidFill>
              </a:rPr>
              <a:t>14,498</a:t>
            </a:r>
            <a:endParaRPr lang="it-IT" sz="2900">
              <a:solidFill>
                <a:srgbClr val="0A2F41"/>
              </a:solidFill>
            </a:endParaRPr>
          </a:p>
          <a:p>
            <a:r>
              <a:rPr lang="en-US" sz="1200">
                <a:solidFill>
                  <a:srgbClr val="0A2F41"/>
                </a:solidFill>
              </a:rPr>
              <a:t>fatalities recorded</a:t>
            </a:r>
            <a:endParaRPr lang="it-IT" sz="1200">
              <a:solidFill>
                <a:srgbClr val="0A2F41"/>
              </a:solidFill>
            </a:endParaRPr>
          </a:p>
          <a:p>
            <a:pPr algn="l"/>
            <a:endParaRPr lang="it-IT" dirty="0">
              <a:solidFill>
                <a:srgbClr val="0A2F41"/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43B89659-B3EE-CD34-E30E-3981DD28CC83}"/>
              </a:ext>
            </a:extLst>
          </p:cNvPr>
          <p:cNvSpPr/>
          <p:nvPr/>
        </p:nvSpPr>
        <p:spPr>
          <a:xfrm>
            <a:off x="66231" y="653810"/>
            <a:ext cx="4882497" cy="25603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b="1" kern="0" spc="120">
                <a:solidFill>
                  <a:srgbClr val="B87D07"/>
                </a:solidFill>
                <a:latin typeface="Inter Display"/>
                <a:ea typeface="Inter Display"/>
                <a:cs typeface="Inter Display" pitchFamily="34" charset="-120"/>
              </a:rPr>
              <a:t>        ROAD SAFETY TECHNOLOGY &amp; TRAFFIC INTELLIGENCE</a:t>
            </a:r>
            <a:endParaRPr lang="en-US" sz="950">
              <a:solidFill>
                <a:srgbClr val="B87D07"/>
              </a:solidFill>
              <a:latin typeface="Inter Display"/>
              <a:ea typeface="Inter Display"/>
              <a:cs typeface="Calibri"/>
            </a:endParaRPr>
          </a:p>
        </p:txBody>
      </p:sp>
      <p:sp>
        <p:nvSpPr>
          <p:cNvPr id="10" name="Parallelogramma 9">
            <a:extLst>
              <a:ext uri="{FF2B5EF4-FFF2-40B4-BE49-F238E27FC236}">
                <a16:creationId xmlns:a16="http://schemas.microsoft.com/office/drawing/2014/main" id="{500EF110-55F6-B3AA-AB56-217F2D160F16}"/>
              </a:ext>
            </a:extLst>
          </p:cNvPr>
          <p:cNvSpPr/>
          <p:nvPr/>
        </p:nvSpPr>
        <p:spPr>
          <a:xfrm>
            <a:off x="733512" y="121065"/>
            <a:ext cx="119445" cy="259223"/>
          </a:xfrm>
          <a:prstGeom prst="parallelogram">
            <a:avLst/>
          </a:prstGeom>
          <a:solidFill>
            <a:srgbClr val="B87D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Parallelogramma 12">
            <a:extLst>
              <a:ext uri="{FF2B5EF4-FFF2-40B4-BE49-F238E27FC236}">
                <a16:creationId xmlns:a16="http://schemas.microsoft.com/office/drawing/2014/main" id="{75B60841-4EC1-A3E4-BD3F-60EB73CB797F}"/>
              </a:ext>
            </a:extLst>
          </p:cNvPr>
          <p:cNvSpPr/>
          <p:nvPr/>
        </p:nvSpPr>
        <p:spPr>
          <a:xfrm>
            <a:off x="612448" y="121066"/>
            <a:ext cx="119442" cy="259222"/>
          </a:xfrm>
          <a:prstGeom prst="parallelogra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Parallelogramma 14">
            <a:extLst>
              <a:ext uri="{FF2B5EF4-FFF2-40B4-BE49-F238E27FC236}">
                <a16:creationId xmlns:a16="http://schemas.microsoft.com/office/drawing/2014/main" id="{6ADEEE36-A8BB-777F-3F3D-D9CDFDF51CCD}"/>
              </a:ext>
            </a:extLst>
          </p:cNvPr>
          <p:cNvSpPr/>
          <p:nvPr/>
        </p:nvSpPr>
        <p:spPr>
          <a:xfrm>
            <a:off x="491383" y="121065"/>
            <a:ext cx="119442" cy="259222"/>
          </a:xfrm>
          <a:prstGeom prst="parallelogram">
            <a:avLst/>
          </a:prstGeom>
          <a:solidFill>
            <a:srgbClr val="368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D26B5E3-2E9D-F9F0-C617-110DE477323D}"/>
              </a:ext>
            </a:extLst>
          </p:cNvPr>
          <p:cNvSpPr txBox="1"/>
          <p:nvPr/>
        </p:nvSpPr>
        <p:spPr>
          <a:xfrm>
            <a:off x="940037" y="7121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ea typeface="Calibri"/>
                <a:cs typeface="Calibri"/>
              </a:rPr>
              <a:t>FVG TECHNOLOGIES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113CE9B-B879-5705-08C4-6DCDFAFF277B}"/>
              </a:ext>
            </a:extLst>
          </p:cNvPr>
          <p:cNvSpPr txBox="1"/>
          <p:nvPr/>
        </p:nvSpPr>
        <p:spPr>
          <a:xfrm>
            <a:off x="178038" y="4922535"/>
            <a:ext cx="11851470" cy="5232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 dirty="0">
                <a:ea typeface="+mn-lt"/>
                <a:cs typeface="+mn-lt"/>
              </a:rPr>
              <a:t>FVG Technologies </a:t>
            </a:r>
            <a:r>
              <a:rPr lang="it-IT" sz="1400" b="1" dirty="0" err="1">
                <a:ea typeface="+mn-lt"/>
                <a:cs typeface="+mn-lt"/>
              </a:rPr>
              <a:t>is</a:t>
            </a:r>
            <a:r>
              <a:rPr lang="it-IT" sz="1400" b="1" dirty="0">
                <a:ea typeface="+mn-lt"/>
                <a:cs typeface="+mn-lt"/>
              </a:rPr>
              <a:t> a </a:t>
            </a:r>
            <a:r>
              <a:rPr lang="it-IT" sz="1400" b="1" dirty="0" err="1">
                <a:ea typeface="+mn-lt"/>
                <a:cs typeface="+mn-lt"/>
              </a:rPr>
              <a:t>fictional</a:t>
            </a:r>
            <a:r>
              <a:rPr lang="it-IT" sz="1400" b="1" dirty="0">
                <a:ea typeface="+mn-lt"/>
                <a:cs typeface="+mn-lt"/>
              </a:rPr>
              <a:t> road </a:t>
            </a:r>
            <a:r>
              <a:rPr lang="it-IT" sz="1400" b="1" dirty="0" err="1">
                <a:ea typeface="+mn-lt"/>
                <a:cs typeface="+mn-lt"/>
              </a:rPr>
              <a:t>safety</a:t>
            </a:r>
            <a:r>
              <a:rPr lang="it-IT" sz="1400" b="1" dirty="0">
                <a:ea typeface="+mn-lt"/>
                <a:cs typeface="+mn-lt"/>
              </a:rPr>
              <a:t> company </a:t>
            </a:r>
            <a:r>
              <a:rPr lang="it-IT" sz="1400" b="1" dirty="0" err="1">
                <a:ea typeface="+mn-lt"/>
                <a:cs typeface="+mn-lt"/>
              </a:rPr>
              <a:t>based</a:t>
            </a:r>
            <a:r>
              <a:rPr lang="it-IT" sz="1400" b="1" dirty="0">
                <a:ea typeface="+mn-lt"/>
                <a:cs typeface="+mn-lt"/>
              </a:rPr>
              <a:t> in Udine, Italy.</a:t>
            </a:r>
            <a:endParaRPr lang="uk-UA" dirty="0"/>
          </a:p>
          <a:p>
            <a:r>
              <a:rPr lang="it-IT" sz="1400" b="1" dirty="0">
                <a:ea typeface="+mn-lt"/>
                <a:cs typeface="+mn-lt"/>
              </a:rPr>
              <a:t>The company </a:t>
            </a:r>
            <a:r>
              <a:rPr lang="it-IT" sz="1400" b="1" dirty="0" err="1">
                <a:ea typeface="+mn-lt"/>
                <a:cs typeface="+mn-lt"/>
              </a:rPr>
              <a:t>currently</a:t>
            </a:r>
            <a:r>
              <a:rPr lang="it-IT" sz="1400" b="1" dirty="0">
                <a:ea typeface="+mn-lt"/>
                <a:cs typeface="+mn-lt"/>
              </a:rPr>
              <a:t> </a:t>
            </a:r>
            <a:r>
              <a:rPr lang="it-IT" sz="1400" b="1" dirty="0" err="1">
                <a:ea typeface="+mn-lt"/>
                <a:cs typeface="+mn-lt"/>
              </a:rPr>
              <a:t>operates</a:t>
            </a:r>
            <a:r>
              <a:rPr lang="it-IT" sz="1400" b="1" dirty="0">
                <a:ea typeface="+mn-lt"/>
                <a:cs typeface="+mn-lt"/>
              </a:rPr>
              <a:t> in the </a:t>
            </a:r>
            <a:r>
              <a:rPr lang="it-IT" sz="1400" b="1" dirty="0" err="1">
                <a:ea typeface="+mn-lt"/>
                <a:cs typeface="+mn-lt"/>
              </a:rPr>
              <a:t>provinces</a:t>
            </a:r>
            <a:r>
              <a:rPr lang="it-IT" sz="1400" b="1" dirty="0">
                <a:ea typeface="+mn-lt"/>
                <a:cs typeface="+mn-lt"/>
              </a:rPr>
              <a:t> of Udine, Trieste and Pordenone and plans to </a:t>
            </a:r>
            <a:r>
              <a:rPr lang="it-IT" sz="1400" b="1" dirty="0" err="1">
                <a:ea typeface="+mn-lt"/>
                <a:cs typeface="+mn-lt"/>
              </a:rPr>
              <a:t>expand</a:t>
            </a:r>
            <a:r>
              <a:rPr lang="it-IT" sz="1400" b="1" dirty="0">
                <a:ea typeface="+mn-lt"/>
                <a:cs typeface="+mn-lt"/>
              </a:rPr>
              <a:t> </a:t>
            </a:r>
            <a:r>
              <a:rPr lang="it-IT" sz="1400" b="1" dirty="0" err="1">
                <a:ea typeface="+mn-lt"/>
                <a:cs typeface="+mn-lt"/>
              </a:rPr>
              <a:t>across</a:t>
            </a:r>
            <a:r>
              <a:rPr lang="it-IT" sz="1400" b="1" dirty="0">
                <a:ea typeface="+mn-lt"/>
                <a:cs typeface="+mn-lt"/>
              </a:rPr>
              <a:t> Italy.</a:t>
            </a:r>
            <a:endParaRPr lang="it-IT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D5367-25CA-11F9-20C9-5ECF0070330C}"/>
              </a:ext>
            </a:extLst>
          </p:cNvPr>
          <p:cNvSpPr txBox="1"/>
          <p:nvPr/>
        </p:nvSpPr>
        <p:spPr>
          <a:xfrm>
            <a:off x="178036" y="5654467"/>
            <a:ext cx="636092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uk-UA" sz="1200">
                <a:ea typeface="+mn-lt"/>
                <a:cs typeface="+mn-lt"/>
              </a:rPr>
              <a:t>My role: Data Analyst — identifying new market opportunities using road accident data.</a:t>
            </a:r>
            <a:endParaRPr lang="uk-UA" sz="1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6153C2-4AA7-1D37-09EF-939CC9995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3335" y="1998349"/>
            <a:ext cx="5489330" cy="410527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52B43"/>
                </a:solidFill>
              </a:rPr>
              <a:t>TOP 5  •  TOTAL  ACCIDENTS</a:t>
            </a:r>
            <a:endParaRPr lang="it-IT" sz="2400">
              <a:ea typeface="Calibri"/>
              <a:cs typeface="Calibri"/>
            </a:endParaRPr>
          </a:p>
          <a:p>
            <a:r>
              <a:rPr lang="it-IT" sz="2000" b="1">
                <a:solidFill>
                  <a:schemeClr val="accent1">
                    <a:lumMod val="49000"/>
                  </a:schemeClr>
                </a:solidFill>
              </a:rPr>
              <a:t>Roma</a:t>
            </a:r>
            <a:r>
              <a:rPr lang="it-IT" sz="2000" dirty="0">
                <a:solidFill>
                  <a:schemeClr val="accent1">
                    <a:lumMod val="49000"/>
                  </a:schemeClr>
                </a:solidFill>
              </a:rPr>
              <a:t>                                                              </a:t>
            </a:r>
            <a:r>
              <a:rPr lang="it-IT" dirty="0">
                <a:solidFill>
                  <a:schemeClr val="accent1">
                    <a:lumMod val="49000"/>
                  </a:schemeClr>
                </a:solidFill>
              </a:rPr>
              <a:t> </a:t>
            </a:r>
            <a:r>
              <a:rPr lang="it-IT" sz="2000" dirty="0">
                <a:solidFill>
                  <a:schemeClr val="accent1">
                    <a:lumMod val="49000"/>
                  </a:schemeClr>
                </a:solidFill>
              </a:rPr>
              <a:t>          </a:t>
            </a:r>
            <a:r>
              <a:rPr lang="it-IT" dirty="0">
                <a:solidFill>
                  <a:schemeClr val="accent1">
                    <a:lumMod val="49000"/>
                  </a:schemeClr>
                </a:solidFill>
              </a:rPr>
              <a:t>                </a:t>
            </a:r>
            <a:r>
              <a:rPr lang="it-IT" b="1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000" b="1">
                <a:solidFill>
                  <a:schemeClr val="accent1">
                    <a:lumMod val="49000"/>
                  </a:schemeClr>
                </a:solidFill>
              </a:rPr>
              <a:t>59,280</a:t>
            </a:r>
            <a:endParaRPr lang="it-IT" sz="2000" b="1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chemeClr val="accent1">
                  <a:lumMod val="49000"/>
                </a:schemeClr>
              </a:solidFill>
            </a:endParaRPr>
          </a:p>
          <a:p>
            <a:r>
              <a:rPr lang="it-IT" sz="2000">
                <a:solidFill>
                  <a:schemeClr val="accent1">
                    <a:lumMod val="49000"/>
                  </a:schemeClr>
                </a:solidFill>
              </a:rPr>
              <a:t>Milano                                                                         </a:t>
            </a:r>
            <a:r>
              <a:rPr lang="it-IT">
                <a:solidFill>
                  <a:schemeClr val="accent1">
                    <a:lumMod val="49000"/>
                  </a:schemeClr>
                </a:solidFill>
              </a:rPr>
              <a:t>               </a:t>
            </a:r>
            <a:r>
              <a:rPr lang="it-IT" sz="2000" b="1">
                <a:solidFill>
                  <a:schemeClr val="accent1">
                    <a:lumMod val="49000"/>
                  </a:schemeClr>
                </a:solidFill>
              </a:rPr>
              <a:t>35,659</a:t>
            </a:r>
            <a:endParaRPr lang="it-IT" sz="2000" b="1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chemeClr val="accent1">
                  <a:lumMod val="49000"/>
                </a:schemeClr>
              </a:solidFill>
            </a:endParaRPr>
          </a:p>
          <a:p>
            <a:r>
              <a:rPr lang="it-IT" sz="2000">
                <a:solidFill>
                  <a:schemeClr val="accent1">
                    <a:lumMod val="49000"/>
                  </a:schemeClr>
                </a:solidFill>
              </a:rPr>
              <a:t>Genova                                                                       </a:t>
            </a:r>
            <a:r>
              <a:rPr lang="it-IT">
                <a:solidFill>
                  <a:schemeClr val="accent1">
                    <a:lumMod val="49000"/>
                  </a:schemeClr>
                </a:solidFill>
              </a:rPr>
              <a:t>                </a:t>
            </a:r>
            <a:r>
              <a:rPr lang="it-IT" sz="2000" b="1">
                <a:solidFill>
                  <a:schemeClr val="accent1">
                    <a:lumMod val="49000"/>
                  </a:schemeClr>
                </a:solidFill>
              </a:rPr>
              <a:t>17,875</a:t>
            </a:r>
            <a:endParaRPr lang="it-IT" sz="2000" b="1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endParaRPr lang="it-IT" sz="2000" dirty="0">
              <a:solidFill>
                <a:schemeClr val="accent1">
                  <a:lumMod val="49000"/>
                </a:schemeClr>
              </a:solidFill>
            </a:endParaRPr>
          </a:p>
          <a:p>
            <a:r>
              <a:rPr lang="it-IT" sz="2000">
                <a:solidFill>
                  <a:schemeClr val="accent1">
                    <a:lumMod val="49000"/>
                  </a:schemeClr>
                </a:solidFill>
              </a:rPr>
              <a:t>Torino                                                                           </a:t>
            </a:r>
            <a:r>
              <a:rPr lang="it-IT">
                <a:solidFill>
                  <a:schemeClr val="accent1">
                    <a:lumMod val="49000"/>
                  </a:schemeClr>
                </a:solidFill>
              </a:rPr>
              <a:t>             </a:t>
            </a:r>
            <a:r>
              <a:rPr lang="it-IT" b="1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000" b="1">
                <a:solidFill>
                  <a:schemeClr val="accent1">
                    <a:lumMod val="49000"/>
                  </a:schemeClr>
                </a:solidFill>
              </a:rPr>
              <a:t>13,702</a:t>
            </a:r>
            <a:endParaRPr lang="it-IT" sz="2000" b="1" dirty="0">
              <a:solidFill>
                <a:schemeClr val="accent1">
                  <a:lumMod val="49000"/>
                </a:schemeClr>
              </a:solidFill>
            </a:endParaRPr>
          </a:p>
          <a:p>
            <a:endParaRPr lang="it-IT" sz="2000" dirty="0">
              <a:solidFill>
                <a:schemeClr val="accent1">
                  <a:lumMod val="49000"/>
                </a:schemeClr>
              </a:solidFill>
            </a:endParaRPr>
          </a:p>
          <a:p>
            <a:r>
              <a:rPr lang="it-IT" sz="2000">
                <a:solidFill>
                  <a:schemeClr val="accent1">
                    <a:lumMod val="49000"/>
                  </a:schemeClr>
                </a:solidFill>
              </a:rPr>
              <a:t>Napoli                                                                          </a:t>
            </a:r>
            <a:r>
              <a:rPr lang="it-IT">
                <a:solidFill>
                  <a:schemeClr val="accent1">
                    <a:lumMod val="49000"/>
                  </a:schemeClr>
                </a:solidFill>
              </a:rPr>
              <a:t>               </a:t>
            </a:r>
            <a:r>
              <a:rPr lang="it-IT" sz="2000" b="1">
                <a:solidFill>
                  <a:schemeClr val="accent1">
                    <a:lumMod val="49000"/>
                  </a:schemeClr>
                </a:solidFill>
              </a:rPr>
              <a:t>11,219</a:t>
            </a:r>
            <a:endParaRPr lang="it-IT" sz="2000" b="1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it-IT" sz="1400" dirty="0">
                <a:solidFill>
                  <a:schemeClr val="accent1">
                    <a:lumMod val="49000"/>
                  </a:schemeClr>
                </a:solidFill>
              </a:rPr>
              <a:t>Total </a:t>
            </a:r>
            <a:r>
              <a:rPr lang="it-IT" sz="1400" dirty="0" err="1">
                <a:solidFill>
                  <a:schemeClr val="accent1">
                    <a:lumMod val="49000"/>
                  </a:schemeClr>
                </a:solidFill>
              </a:rPr>
              <a:t>incidents</a:t>
            </a:r>
            <a:r>
              <a:rPr lang="it-IT" sz="1400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1400" dirty="0" err="1">
                <a:solidFill>
                  <a:schemeClr val="accent1">
                    <a:lumMod val="49000"/>
                  </a:schemeClr>
                </a:solidFill>
              </a:rPr>
              <a:t>recorded</a:t>
            </a:r>
            <a:r>
              <a:rPr lang="it-IT" sz="1400" dirty="0">
                <a:solidFill>
                  <a:schemeClr val="accent1">
                    <a:lumMod val="49000"/>
                  </a:schemeClr>
                </a:solidFill>
              </a:rPr>
              <a:t>  </a:t>
            </a:r>
            <a:r>
              <a:rPr lang="it-IT" sz="1400" dirty="0" err="1">
                <a:solidFill>
                  <a:schemeClr val="accent1">
                    <a:lumMod val="49000"/>
                  </a:schemeClr>
                </a:solidFill>
              </a:rPr>
              <a:t>across</a:t>
            </a:r>
            <a:r>
              <a:rPr lang="it-IT" sz="1400" dirty="0">
                <a:solidFill>
                  <a:schemeClr val="accent1">
                    <a:lumMod val="49000"/>
                  </a:schemeClr>
                </a:solidFill>
              </a:rPr>
              <a:t> 2020 - 2024</a:t>
            </a:r>
            <a:endParaRPr lang="it-IT" sz="1400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AA5491-E2FD-8157-8640-358B1073C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61723" y="1995530"/>
            <a:ext cx="3967163" cy="399415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it-IT" sz="3200" b="1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Roma</a:t>
            </a:r>
            <a:endParaRPr lang="it-IT">
              <a:solidFill>
                <a:schemeClr val="accent1">
                  <a:lumMod val="49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it-IT" sz="2400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400">
                <a:solidFill>
                  <a:schemeClr val="accent1">
                    <a:lumMod val="49000"/>
                  </a:schemeClr>
                </a:solidFill>
              </a:rPr>
              <a:t>HIGHEST VOLUME</a:t>
            </a:r>
            <a:endParaRPr lang="it-IT" sz="2400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000" dirty="0">
                <a:solidFill>
                  <a:schemeClr val="accent1">
                    <a:lumMod val="49000"/>
                  </a:schemeClr>
                </a:solidFill>
              </a:rPr>
              <a:t>59,280 </a:t>
            </a:r>
            <a:r>
              <a:rPr lang="it-IT" sz="2000" dirty="0" err="1">
                <a:solidFill>
                  <a:schemeClr val="accent1">
                    <a:lumMod val="49000"/>
                  </a:schemeClr>
                </a:solidFill>
              </a:rPr>
              <a:t>accidents</a:t>
            </a:r>
            <a:endParaRPr lang="it-IT" sz="2000" dirty="0" err="1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3200" b="1">
                <a:solidFill>
                  <a:schemeClr val="accent1">
                    <a:lumMod val="49000"/>
                  </a:schemeClr>
                </a:solidFill>
              </a:rPr>
              <a:t>Forte dei Marmi</a:t>
            </a:r>
          </a:p>
          <a:p>
            <a:pPr marL="0" indent="0">
              <a:buNone/>
            </a:pPr>
            <a:r>
              <a:rPr lang="it-IT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400">
                <a:solidFill>
                  <a:schemeClr val="accent1">
                    <a:lumMod val="49000"/>
                  </a:schemeClr>
                </a:solidFill>
              </a:rPr>
              <a:t>HIGHEST RATE*</a:t>
            </a:r>
            <a:endParaRPr lang="it-IT" sz="2400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000" dirty="0">
                <a:solidFill>
                  <a:schemeClr val="accent1">
                    <a:lumMod val="49000"/>
                  </a:schemeClr>
                </a:solidFill>
              </a:rPr>
              <a:t>1,302.1 per 100k </a:t>
            </a:r>
            <a:r>
              <a:rPr lang="it-IT" sz="2000" dirty="0" err="1">
                <a:solidFill>
                  <a:schemeClr val="accent1">
                    <a:lumMod val="49000"/>
                  </a:schemeClr>
                </a:solidFill>
              </a:rPr>
              <a:t>residents</a:t>
            </a:r>
            <a:r>
              <a:rPr lang="it-IT" sz="2000" dirty="0">
                <a:solidFill>
                  <a:schemeClr val="accent1">
                    <a:lumMod val="49000"/>
                  </a:schemeClr>
                </a:solidFill>
              </a:rPr>
              <a:t>/</a:t>
            </a:r>
            <a:r>
              <a:rPr lang="it-IT" sz="2000" dirty="0" err="1">
                <a:solidFill>
                  <a:schemeClr val="accent1">
                    <a:lumMod val="49000"/>
                  </a:schemeClr>
                </a:solidFill>
              </a:rPr>
              <a:t>year</a:t>
            </a:r>
            <a:endParaRPr lang="it-IT" sz="2000" dirty="0">
              <a:solidFill>
                <a:schemeClr val="accent1">
                  <a:lumMod val="49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it-IT" sz="3200" b="1">
                <a:solidFill>
                  <a:schemeClr val="accent1">
                    <a:lumMod val="49000"/>
                  </a:schemeClr>
                </a:solidFill>
              </a:rPr>
              <a:t>Milano</a:t>
            </a:r>
          </a:p>
          <a:p>
            <a:pPr marL="0" indent="0">
              <a:buNone/>
            </a:pPr>
            <a:r>
              <a:rPr lang="it-IT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400">
                <a:solidFill>
                  <a:schemeClr val="accent1">
                    <a:lumMod val="49000"/>
                  </a:schemeClr>
                </a:solidFill>
              </a:rPr>
              <a:t>HIGHEST DENSITY</a:t>
            </a:r>
            <a:endParaRPr lang="it-IT" sz="2400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it-IT" sz="2000" dirty="0">
                <a:solidFill>
                  <a:schemeClr val="accent1">
                    <a:lumMod val="49000"/>
                  </a:schemeClr>
                </a:solidFill>
              </a:rPr>
              <a:t>39,23 </a:t>
            </a:r>
            <a:r>
              <a:rPr lang="it-IT" sz="2000" dirty="0" err="1">
                <a:solidFill>
                  <a:schemeClr val="accent1">
                    <a:lumMod val="49000"/>
                  </a:schemeClr>
                </a:solidFill>
              </a:rPr>
              <a:t>accidents</a:t>
            </a:r>
            <a:r>
              <a:rPr lang="it-IT" sz="2000" dirty="0">
                <a:solidFill>
                  <a:schemeClr val="accent1">
                    <a:lumMod val="49000"/>
                  </a:schemeClr>
                </a:solidFill>
              </a:rPr>
              <a:t> per km2/</a:t>
            </a:r>
            <a:r>
              <a:rPr lang="it-IT" sz="2000" dirty="0" err="1">
                <a:solidFill>
                  <a:schemeClr val="accent1">
                    <a:lumMod val="49000"/>
                  </a:schemeClr>
                </a:solidFill>
              </a:rPr>
              <a:t>year</a:t>
            </a:r>
            <a:endParaRPr lang="it-IT" sz="2000" dirty="0">
              <a:solidFill>
                <a:schemeClr val="accent1">
                  <a:lumMod val="49000"/>
                </a:schemeClr>
              </a:solidFill>
            </a:endParaRP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542775-D7CC-1F89-CEF1-FEB810B608F6}"/>
              </a:ext>
            </a:extLst>
          </p:cNvPr>
          <p:cNvSpPr txBox="1"/>
          <p:nvPr/>
        </p:nvSpPr>
        <p:spPr>
          <a:xfrm>
            <a:off x="122558" y="110415"/>
            <a:ext cx="1945726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solidFill>
                  <a:srgbClr val="1F72A4"/>
                </a:solidFill>
                <a:latin typeface="Aptos"/>
                <a:ea typeface="Calibri"/>
                <a:cs typeface="Calibri"/>
              </a:rPr>
              <a:t>01  /  MARKET  EVIDENCE</a:t>
            </a:r>
          </a:p>
          <a:p>
            <a:pPr algn="l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48196B-687B-C514-3395-0347F98B09BE}"/>
              </a:ext>
            </a:extLst>
          </p:cNvPr>
          <p:cNvSpPr txBox="1"/>
          <p:nvPr/>
        </p:nvSpPr>
        <p:spPr>
          <a:xfrm>
            <a:off x="6095999" y="6447691"/>
            <a:ext cx="544683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*Rate ranking restricted to municipalities with average population ≥ 5,000.</a:t>
            </a:r>
            <a:endParaRPr lang="it-IT" sz="1200">
              <a:ea typeface="Calibri"/>
              <a:cs typeface="Calibri"/>
            </a:endParaRPr>
          </a:p>
          <a:p>
            <a:pPr algn="l"/>
            <a:endParaRPr lang="it-IT" dirty="0"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9BE82D9-AADA-8656-F614-F57716E1F22E}"/>
              </a:ext>
            </a:extLst>
          </p:cNvPr>
          <p:cNvSpPr txBox="1"/>
          <p:nvPr/>
        </p:nvSpPr>
        <p:spPr>
          <a:xfrm>
            <a:off x="175846" y="6447692"/>
            <a:ext cx="51903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ISTAT / SITUAS • 2020–2024 • Capstone Project</a:t>
            </a:r>
            <a:endParaRPr lang="it-IT" sz="1000">
              <a:ea typeface="Calibri"/>
              <a:cs typeface="Calibri"/>
            </a:endParaRPr>
          </a:p>
          <a:p>
            <a:pPr algn="l"/>
            <a:endParaRPr lang="it-IT" dirty="0">
              <a:ea typeface="Calibri"/>
              <a:cs typeface="Calibri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DF508820-EA34-D6C3-B079-799DE86C3FE0}"/>
              </a:ext>
            </a:extLst>
          </p:cNvPr>
          <p:cNvSpPr/>
          <p:nvPr/>
        </p:nvSpPr>
        <p:spPr>
          <a:xfrm>
            <a:off x="1500376" y="2414541"/>
            <a:ext cx="3365149" cy="173970"/>
          </a:xfrm>
          <a:prstGeom prst="roundRect">
            <a:avLst/>
          </a:prstGeom>
          <a:solidFill>
            <a:srgbClr val="C66B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1C58A876-F3BF-2EF2-2D18-BCFA924921FA}"/>
              </a:ext>
            </a:extLst>
          </p:cNvPr>
          <p:cNvSpPr/>
          <p:nvPr/>
        </p:nvSpPr>
        <p:spPr>
          <a:xfrm>
            <a:off x="1500375" y="3054230"/>
            <a:ext cx="2335819" cy="174381"/>
          </a:xfrm>
          <a:prstGeom prst="roundRect">
            <a:avLst/>
          </a:prstGeom>
          <a:solidFill>
            <a:srgbClr val="456B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AFA82E6-1DFB-2997-7A5F-DB1089E9AD88}"/>
              </a:ext>
            </a:extLst>
          </p:cNvPr>
          <p:cNvSpPr/>
          <p:nvPr/>
        </p:nvSpPr>
        <p:spPr>
          <a:xfrm>
            <a:off x="1500375" y="3790974"/>
            <a:ext cx="1544513" cy="174381"/>
          </a:xfrm>
          <a:prstGeom prst="roundRect">
            <a:avLst/>
          </a:prstGeom>
          <a:solidFill>
            <a:srgbClr val="456B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A5B1D9CD-2FED-800C-5639-A4479531A917}"/>
              </a:ext>
            </a:extLst>
          </p:cNvPr>
          <p:cNvSpPr/>
          <p:nvPr/>
        </p:nvSpPr>
        <p:spPr>
          <a:xfrm>
            <a:off x="1500375" y="4453656"/>
            <a:ext cx="1075590" cy="167053"/>
          </a:xfrm>
          <a:prstGeom prst="roundRect">
            <a:avLst/>
          </a:prstGeom>
          <a:solidFill>
            <a:srgbClr val="456B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325621F-F608-F1A2-1E28-0BAB01C8ADBB}"/>
              </a:ext>
            </a:extLst>
          </p:cNvPr>
          <p:cNvSpPr/>
          <p:nvPr/>
        </p:nvSpPr>
        <p:spPr>
          <a:xfrm>
            <a:off x="1500375" y="5110452"/>
            <a:ext cx="907073" cy="174381"/>
          </a:xfrm>
          <a:prstGeom prst="roundRect">
            <a:avLst/>
          </a:prstGeom>
          <a:solidFill>
            <a:srgbClr val="456B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Freccia circolare a destra 5">
            <a:extLst>
              <a:ext uri="{FF2B5EF4-FFF2-40B4-BE49-F238E27FC236}">
                <a16:creationId xmlns:a16="http://schemas.microsoft.com/office/drawing/2014/main" id="{91280A99-5DFD-BCCC-6E15-2947AF6A354E}"/>
              </a:ext>
            </a:extLst>
          </p:cNvPr>
          <p:cNvSpPr/>
          <p:nvPr/>
        </p:nvSpPr>
        <p:spPr>
          <a:xfrm>
            <a:off x="7036037" y="2086598"/>
            <a:ext cx="731520" cy="99538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4" name="Freccia circolare a destra 13">
            <a:extLst>
              <a:ext uri="{FF2B5EF4-FFF2-40B4-BE49-F238E27FC236}">
                <a16:creationId xmlns:a16="http://schemas.microsoft.com/office/drawing/2014/main" id="{34A92DAF-C6F5-8815-7E4E-07DEECC1F190}"/>
              </a:ext>
            </a:extLst>
          </p:cNvPr>
          <p:cNvSpPr/>
          <p:nvPr/>
        </p:nvSpPr>
        <p:spPr>
          <a:xfrm>
            <a:off x="7036037" y="3226038"/>
            <a:ext cx="731520" cy="1052357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5" name="Freccia circolare a destra 14">
            <a:extLst>
              <a:ext uri="{FF2B5EF4-FFF2-40B4-BE49-F238E27FC236}">
                <a16:creationId xmlns:a16="http://schemas.microsoft.com/office/drawing/2014/main" id="{84BF69F9-0E15-2675-EB36-602A6A1C84C1}"/>
              </a:ext>
            </a:extLst>
          </p:cNvPr>
          <p:cNvSpPr/>
          <p:nvPr/>
        </p:nvSpPr>
        <p:spPr>
          <a:xfrm>
            <a:off x="7036037" y="4358354"/>
            <a:ext cx="731520" cy="110220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7" name="Titolo 16">
            <a:extLst>
              <a:ext uri="{FF2B5EF4-FFF2-40B4-BE49-F238E27FC236}">
                <a16:creationId xmlns:a16="http://schemas.microsoft.com/office/drawing/2014/main" id="{F8DB545F-6B57-5C28-DB57-E85BC53D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29631"/>
            <a:ext cx="10058400" cy="1486364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it-IT" sz="32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Not </a:t>
            </a:r>
            <a:r>
              <a:rPr lang="it-IT" sz="32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all</a:t>
            </a:r>
            <a:r>
              <a:rPr lang="it-IT" sz="32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it-IT" sz="32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accident</a:t>
            </a:r>
            <a:r>
              <a:rPr lang="it-IT" sz="32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it-IT" sz="32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signals</a:t>
            </a:r>
            <a:r>
              <a:rPr lang="it-IT" sz="32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tell the </a:t>
            </a:r>
            <a:r>
              <a:rPr lang="it-IT" sz="32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same</a:t>
            </a:r>
            <a:r>
              <a:rPr lang="it-IT" sz="32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story.</a:t>
            </a:r>
            <a:br>
              <a:rPr lang="it-IT" sz="3200" b="1" dirty="0">
                <a:ea typeface="Calibri Light"/>
                <a:cs typeface="Calibri Light"/>
              </a:rPr>
            </a:br>
            <a:br>
              <a:rPr lang="it-IT" sz="3600" b="1" dirty="0">
                <a:ea typeface="Calibri Light"/>
                <a:cs typeface="Calibri Light"/>
              </a:rPr>
            </a:br>
            <a:r>
              <a:rPr lang="it-IT" sz="20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Different</a:t>
            </a:r>
            <a:r>
              <a:rPr lang="it-IT" sz="20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it-IT" sz="20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indicators</a:t>
            </a:r>
            <a:r>
              <a:rPr lang="it-IT" sz="20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help FVG Technologies </a:t>
            </a:r>
            <a:r>
              <a:rPr lang="it-IT" sz="20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identify</a:t>
            </a:r>
            <a:r>
              <a:rPr lang="it-IT" sz="20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it-IT" sz="20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different</a:t>
            </a:r>
            <a:r>
              <a:rPr lang="it-IT" sz="20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 </a:t>
            </a:r>
            <a:r>
              <a:rPr lang="it-IT" sz="20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types</a:t>
            </a:r>
            <a:r>
              <a:rPr lang="it-IT" sz="20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 of market </a:t>
            </a:r>
            <a:r>
              <a:rPr lang="it-IT" sz="2000" b="1" dirty="0" err="1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opportunities</a:t>
            </a:r>
            <a:r>
              <a:rPr lang="it-IT" sz="2000" b="1" dirty="0">
                <a:solidFill>
                  <a:schemeClr val="bg2">
                    <a:lumMod val="25000"/>
                  </a:schemeClr>
                </a:solidFill>
                <a:ea typeface="Calibri Light"/>
                <a:cs typeface="Calibri Light"/>
              </a:rPr>
              <a:t>. </a:t>
            </a:r>
            <a:endParaRPr lang="it-IT" sz="2000">
              <a:solidFill>
                <a:schemeClr val="bg2">
                  <a:lumMod val="25000"/>
                </a:schemeClr>
              </a:solidFill>
              <a:highlight>
                <a:srgbClr val="F5F5F5"/>
              </a:highlight>
              <a:ea typeface="Calibri Light"/>
              <a:cs typeface="Calibri Ligh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A9B6830-15CF-C42E-36CA-A567B7C81A45}"/>
              </a:ext>
            </a:extLst>
          </p:cNvPr>
          <p:cNvSpPr txBox="1"/>
          <p:nvPr/>
        </p:nvSpPr>
        <p:spPr>
          <a:xfrm>
            <a:off x="10696486" y="56972"/>
            <a:ext cx="14470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it-IT" sz="1200" b="1">
                <a:ea typeface="Calibri"/>
                <a:cs typeface="Calibri"/>
              </a:rPr>
              <a:t>FVG TECHNOLOGIES</a:t>
            </a:r>
            <a:endParaRPr lang="it-IT" sz="1200" dirty="0">
              <a:ea typeface="Calibri"/>
              <a:cs typeface="Calibri"/>
            </a:endParaRPr>
          </a:p>
          <a:p>
            <a:pPr algn="r"/>
            <a:endParaRPr lang="it-IT" sz="1200" dirty="0">
              <a:ea typeface="Calibri"/>
              <a:cs typeface="Calibri"/>
            </a:endParaRPr>
          </a:p>
        </p:txBody>
      </p:sp>
      <p:sp>
        <p:nvSpPr>
          <p:cNvPr id="19" name="Parallelogramma 18">
            <a:extLst>
              <a:ext uri="{FF2B5EF4-FFF2-40B4-BE49-F238E27FC236}">
                <a16:creationId xmlns:a16="http://schemas.microsoft.com/office/drawing/2014/main" id="{B5F744F7-632E-9F50-89F9-3627979D8704}"/>
              </a:ext>
            </a:extLst>
          </p:cNvPr>
          <p:cNvSpPr/>
          <p:nvPr/>
        </p:nvSpPr>
        <p:spPr>
          <a:xfrm>
            <a:off x="10931493" y="170915"/>
            <a:ext cx="119445" cy="259223"/>
          </a:xfrm>
          <a:prstGeom prst="parallelogram">
            <a:avLst/>
          </a:prstGeom>
          <a:solidFill>
            <a:srgbClr val="B87D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Parallelogramma 20">
            <a:extLst>
              <a:ext uri="{FF2B5EF4-FFF2-40B4-BE49-F238E27FC236}">
                <a16:creationId xmlns:a16="http://schemas.microsoft.com/office/drawing/2014/main" id="{F61960A9-B440-607D-B12E-48817961FC09}"/>
              </a:ext>
            </a:extLst>
          </p:cNvPr>
          <p:cNvSpPr/>
          <p:nvPr/>
        </p:nvSpPr>
        <p:spPr>
          <a:xfrm>
            <a:off x="10810429" y="170916"/>
            <a:ext cx="119442" cy="259222"/>
          </a:xfrm>
          <a:prstGeom prst="parallelogra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Parallelogramma 22">
            <a:extLst>
              <a:ext uri="{FF2B5EF4-FFF2-40B4-BE49-F238E27FC236}">
                <a16:creationId xmlns:a16="http://schemas.microsoft.com/office/drawing/2014/main" id="{0EA19958-E7E2-3734-2106-03552012DE4A}"/>
              </a:ext>
            </a:extLst>
          </p:cNvPr>
          <p:cNvSpPr/>
          <p:nvPr/>
        </p:nvSpPr>
        <p:spPr>
          <a:xfrm>
            <a:off x="10689364" y="170915"/>
            <a:ext cx="119442" cy="259222"/>
          </a:xfrm>
          <a:prstGeom prst="parallelogram">
            <a:avLst/>
          </a:prstGeom>
          <a:solidFill>
            <a:srgbClr val="368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185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95C9649-2062-C57D-ECC6-BE35FEC4A6B9}"/>
              </a:ext>
            </a:extLst>
          </p:cNvPr>
          <p:cNvSpPr/>
          <p:nvPr/>
        </p:nvSpPr>
        <p:spPr>
          <a:xfrm>
            <a:off x="201295" y="95377"/>
            <a:ext cx="24231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kern="0" spc="160">
                <a:solidFill>
                  <a:srgbClr val="1F72A4"/>
                </a:solidFill>
                <a:latin typeface="Aptos"/>
              </a:rPr>
              <a:t>02  /  MARKET SCREENING</a:t>
            </a:r>
            <a:endParaRPr lang="en-US" sz="1100" b="1" kern="0" spc="160" dirty="0">
              <a:solidFill>
                <a:srgbClr val="1F72A4"/>
              </a:solidFill>
              <a:latin typeface="Aptos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49234CC-4D2D-D01C-0ED7-43AB58A4287B}"/>
              </a:ext>
            </a:extLst>
          </p:cNvPr>
          <p:cNvSpPr/>
          <p:nvPr/>
        </p:nvSpPr>
        <p:spPr>
          <a:xfrm>
            <a:off x="502920" y="7132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152B43"/>
                </a:solidFill>
                <a:latin typeface="Aptos"/>
                <a:ea typeface="Aptos" pitchFamily="34" charset="-122"/>
                <a:cs typeface="Aptos" pitchFamily="34" charset="-120"/>
              </a:rPr>
              <a:t>            From 7,919 municipalities to a foc</a:t>
            </a:r>
            <a:r>
              <a:rPr lang="en-US" sz="3000" b="1">
                <a:solidFill>
                  <a:srgbClr val="152B43"/>
                </a:solidFill>
                <a:latin typeface="Aptos"/>
                <a:ea typeface="Aptos" pitchFamily="34" charset="-122"/>
                <a:cs typeface="Aptos" pitchFamily="34" charset="-120"/>
              </a:rPr>
              <a:t>used shortlist</a:t>
            </a:r>
            <a:endParaRPr lang="en-US" sz="3000">
              <a:latin typeface="Aptos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4ECF7BF-8E9B-9D3D-CC02-10D64D45F8F7}"/>
              </a:ext>
            </a:extLst>
          </p:cNvPr>
          <p:cNvSpPr/>
          <p:nvPr/>
        </p:nvSpPr>
        <p:spPr>
          <a:xfrm>
            <a:off x="502920" y="1316736"/>
            <a:ext cx="11064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>
                <a:solidFill>
                  <a:srgbClr val="667688"/>
                </a:solidFill>
                <a:latin typeface="Aptos"/>
                <a:ea typeface="Aptos" pitchFamily="34" charset="-122"/>
                <a:cs typeface="Aptos" pitchFamily="34" charset="-120"/>
              </a:rPr>
              <a:t>                                                            K-Means (K = 3) on annual accidents per 100k and accidents per km².</a:t>
            </a:r>
            <a:endParaRPr lang="en-US" sz="1500">
              <a:latin typeface="Aptos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E19994E-B399-EC3E-977F-6E214CC7CF8E}"/>
              </a:ext>
            </a:extLst>
          </p:cNvPr>
          <p:cNvSpPr/>
          <p:nvPr/>
        </p:nvSpPr>
        <p:spPr>
          <a:xfrm>
            <a:off x="459788" y="1653684"/>
            <a:ext cx="11155680" cy="0"/>
          </a:xfrm>
          <a:prstGeom prst="line">
            <a:avLst/>
          </a:prstGeom>
          <a:noFill/>
          <a:ln w="12700">
            <a:solidFill>
              <a:srgbClr val="CFD9D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D6B486B-532E-F1EB-D89F-4F76C6A9EDEF}"/>
              </a:ext>
            </a:extLst>
          </p:cNvPr>
          <p:cNvSpPr/>
          <p:nvPr/>
        </p:nvSpPr>
        <p:spPr>
          <a:xfrm>
            <a:off x="502920" y="6492240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>
                <a:latin typeface="Aptos"/>
                <a:ea typeface="Aptos" pitchFamily="34" charset="-122"/>
                <a:cs typeface="Aptos" pitchFamily="34" charset="-120"/>
              </a:rPr>
              <a:t>ISTAT / SITUAS  •  2020–2024  •  Capstone Project</a:t>
            </a:r>
            <a:endParaRPr lang="en-US" sz="950">
              <a:ea typeface="Calibri"/>
              <a:cs typeface="Calibri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F91F4F5-0FCE-3EBF-6446-589AC625C6A9}"/>
              </a:ext>
            </a:extLst>
          </p:cNvPr>
          <p:cNvSpPr/>
          <p:nvPr/>
        </p:nvSpPr>
        <p:spPr>
          <a:xfrm>
            <a:off x="11045952" y="64739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endParaRPr lang="en-US" sz="1000" dirty="0">
              <a:solidFill>
                <a:srgbClr val="667688"/>
              </a:solidFill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AE8514B-C9C5-22DC-4FAD-4CC9E95D54B5}"/>
              </a:ext>
            </a:extLst>
          </p:cNvPr>
          <p:cNvSpPr/>
          <p:nvPr/>
        </p:nvSpPr>
        <p:spPr>
          <a:xfrm>
            <a:off x="731520" y="22494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PROFILE</a:t>
            </a:r>
            <a:endParaRPr lang="en-US" sz="13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2846E7D-B1DC-9A16-00F7-E1E942E7757A}"/>
              </a:ext>
            </a:extLst>
          </p:cNvPr>
          <p:cNvSpPr/>
          <p:nvPr/>
        </p:nvSpPr>
        <p:spPr>
          <a:xfrm>
            <a:off x="731520" y="278892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accident activity</a:t>
            </a:r>
            <a:endParaRPr lang="en-US" sz="15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F4F74EEB-34C2-DA20-1754-45F63B08A9FD}"/>
              </a:ext>
            </a:extLst>
          </p:cNvPr>
          <p:cNvSpPr/>
          <p:nvPr/>
        </p:nvSpPr>
        <p:spPr>
          <a:xfrm>
            <a:off x="5769864" y="27889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50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6,225</a:t>
            </a:r>
            <a:endParaRPr lang="en-US" sz="15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9C8BC117-D86A-784C-97DE-E5B7C03EE1F2}"/>
              </a:ext>
            </a:extLst>
          </p:cNvPr>
          <p:cNvSpPr/>
          <p:nvPr/>
        </p:nvSpPr>
        <p:spPr>
          <a:xfrm>
            <a:off x="731520" y="356616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activity &amp; density</a:t>
            </a:r>
            <a:endParaRPr lang="en-US" sz="15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8285CEC0-95DE-2BF9-B7EF-EFFA93CA91E6}"/>
              </a:ext>
            </a:extLst>
          </p:cNvPr>
          <p:cNvSpPr/>
          <p:nvPr/>
        </p:nvSpPr>
        <p:spPr>
          <a:xfrm>
            <a:off x="5769864" y="3566160"/>
            <a:ext cx="841248" cy="23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500" b="1">
                <a:solidFill>
                  <a:srgbClr val="368FA3"/>
                </a:solidFill>
                <a:latin typeface="Aptos"/>
              </a:rPr>
              <a:t>1,205</a:t>
            </a:r>
            <a:endParaRPr lang="en-US" sz="1500">
              <a:solidFill>
                <a:srgbClr val="368FA3"/>
              </a:solidFill>
              <a:ea typeface="Calibri"/>
              <a:cs typeface="Calibri"/>
            </a:endParaRPr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5267C42B-6044-9630-F6CA-85E22179C855}"/>
              </a:ext>
            </a:extLst>
          </p:cNvPr>
          <p:cNvSpPr/>
          <p:nvPr/>
        </p:nvSpPr>
        <p:spPr>
          <a:xfrm>
            <a:off x="731520" y="434340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/ no activity</a:t>
            </a:r>
            <a:endParaRPr lang="en-US" sz="150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D86748F4-5493-158E-11B1-C3D7828652B3}"/>
              </a:ext>
            </a:extLst>
          </p:cNvPr>
          <p:cNvSpPr/>
          <p:nvPr/>
        </p:nvSpPr>
        <p:spPr>
          <a:xfrm>
            <a:off x="5769864" y="43434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50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489</a:t>
            </a:r>
            <a:endParaRPr lang="en-US" sz="1500" dirty="0"/>
          </a:p>
        </p:txBody>
      </p:sp>
      <p:sp>
        <p:nvSpPr>
          <p:cNvPr id="15" name="Text 23">
            <a:extLst>
              <a:ext uri="{FF2B5EF4-FFF2-40B4-BE49-F238E27FC236}">
                <a16:creationId xmlns:a16="http://schemas.microsoft.com/office/drawing/2014/main" id="{3D5E184D-CF80-3DB3-CD1F-5901A846A486}"/>
              </a:ext>
            </a:extLst>
          </p:cNvPr>
          <p:cNvSpPr/>
          <p:nvPr/>
        </p:nvSpPr>
        <p:spPr>
          <a:xfrm>
            <a:off x="8346343" y="2024620"/>
            <a:ext cx="1524403" cy="5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00" b="1" dirty="0">
                <a:solidFill>
                  <a:srgbClr val="368FA3"/>
                </a:solidFill>
                <a:latin typeface="Aptos"/>
                <a:ea typeface="Aptos" pitchFamily="34" charset="-122"/>
                <a:cs typeface="Aptos" pitchFamily="34" charset="-120"/>
              </a:rPr>
              <a:t>1,205</a:t>
            </a:r>
            <a:endParaRPr lang="en-US" sz="3700">
              <a:solidFill>
                <a:srgbClr val="368FA3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6" name="Text 24">
            <a:extLst>
              <a:ext uri="{FF2B5EF4-FFF2-40B4-BE49-F238E27FC236}">
                <a16:creationId xmlns:a16="http://schemas.microsoft.com/office/drawing/2014/main" id="{411602F7-9C9B-C9DD-A269-5E6A796E43DF}"/>
              </a:ext>
            </a:extLst>
          </p:cNvPr>
          <p:cNvSpPr/>
          <p:nvPr/>
        </p:nvSpPr>
        <p:spPr>
          <a:xfrm>
            <a:off x="7516368" y="2894795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municipalities in higher-activity cluster</a:t>
            </a:r>
            <a:endParaRPr lang="en-US" sz="1400" dirty="0"/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5550970A-3C58-CE45-20D6-5CAE68957C80}"/>
              </a:ext>
            </a:extLst>
          </p:cNvPr>
          <p:cNvSpPr/>
          <p:nvPr/>
        </p:nvSpPr>
        <p:spPr>
          <a:xfrm>
            <a:off x="8562004" y="3559489"/>
            <a:ext cx="979387" cy="54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0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995</a:t>
            </a:r>
            <a:endParaRPr lang="en-US" sz="3700" dirty="0"/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F7968D5C-205F-88C6-9B76-938FD0BFCE21}"/>
              </a:ext>
            </a:extLst>
          </p:cNvPr>
          <p:cNvSpPr/>
          <p:nvPr/>
        </p:nvSpPr>
        <p:spPr>
          <a:xfrm>
            <a:off x="7732028" y="4442719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municipalities in Power BI*</a:t>
            </a:r>
            <a:endParaRPr lang="en-US" sz="1400" dirty="0"/>
          </a:p>
        </p:txBody>
      </p:sp>
      <p:sp>
        <p:nvSpPr>
          <p:cNvPr id="19" name="Text 28">
            <a:extLst>
              <a:ext uri="{FF2B5EF4-FFF2-40B4-BE49-F238E27FC236}">
                <a16:creationId xmlns:a16="http://schemas.microsoft.com/office/drawing/2014/main" id="{0D155496-D882-E395-B7C3-19FC7939A4E9}"/>
              </a:ext>
            </a:extLst>
          </p:cNvPr>
          <p:cNvSpPr/>
          <p:nvPr/>
        </p:nvSpPr>
        <p:spPr>
          <a:xfrm>
            <a:off x="640080" y="5769864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are screening groups—not a final investment ranking.</a:t>
            </a:r>
            <a:endParaRPr lang="en-US" sz="1400" dirty="0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79CA9FEE-0716-9B89-C140-D449D845DB85}"/>
              </a:ext>
            </a:extLst>
          </p:cNvPr>
          <p:cNvSpPr/>
          <p:nvPr/>
        </p:nvSpPr>
        <p:spPr>
          <a:xfrm>
            <a:off x="640080" y="6190488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667688"/>
                </a:solidFill>
                <a:latin typeface="Aptos"/>
                <a:ea typeface="Aptos" pitchFamily="34" charset="-122"/>
                <a:cs typeface="Aptos" pitchFamily="34" charset="-120"/>
              </a:rPr>
              <a:t>*Power BI card with the population ≥ 5,000 criterion. </a:t>
            </a:r>
            <a:endParaRPr lang="en-US" sz="1000">
              <a:latin typeface="Aptos"/>
            </a:endParaRP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2752B587-55E2-AE00-91F5-44A9FB527C9F}"/>
              </a:ext>
            </a:extLst>
          </p:cNvPr>
          <p:cNvSpPr/>
          <p:nvPr/>
        </p:nvSpPr>
        <p:spPr>
          <a:xfrm>
            <a:off x="733513" y="3126335"/>
            <a:ext cx="4524998" cy="166645"/>
          </a:xfrm>
          <a:prstGeom prst="roundRect">
            <a:avLst/>
          </a:prstGeom>
          <a:solidFill>
            <a:srgbClr val="54A0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E389DE37-F8B2-A78E-6BCF-A55CD5AFCCE6}"/>
              </a:ext>
            </a:extLst>
          </p:cNvPr>
          <p:cNvSpPr/>
          <p:nvPr/>
        </p:nvSpPr>
        <p:spPr>
          <a:xfrm>
            <a:off x="733514" y="3888336"/>
            <a:ext cx="1249110" cy="180886"/>
          </a:xfrm>
          <a:prstGeom prst="roundRect">
            <a:avLst/>
          </a:prstGeom>
          <a:solidFill>
            <a:srgbClr val="368F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DB42FF5-F302-0B15-C040-1654A4BD03AE}"/>
              </a:ext>
            </a:extLst>
          </p:cNvPr>
          <p:cNvSpPr/>
          <p:nvPr/>
        </p:nvSpPr>
        <p:spPr>
          <a:xfrm>
            <a:off x="733513" y="4664579"/>
            <a:ext cx="458626" cy="188008"/>
          </a:xfrm>
          <a:prstGeom prst="roundRect">
            <a:avLst/>
          </a:prstGeom>
          <a:solidFill>
            <a:srgbClr val="B87D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llout: freccia in giù 20">
            <a:extLst>
              <a:ext uri="{FF2B5EF4-FFF2-40B4-BE49-F238E27FC236}">
                <a16:creationId xmlns:a16="http://schemas.microsoft.com/office/drawing/2014/main" id="{9F1B8A3A-F5AE-7F75-DBE1-9E1627AF25CA}"/>
              </a:ext>
            </a:extLst>
          </p:cNvPr>
          <p:cNvSpPr/>
          <p:nvPr/>
        </p:nvSpPr>
        <p:spPr>
          <a:xfrm>
            <a:off x="7903113" y="1962845"/>
            <a:ext cx="2107720" cy="957532"/>
          </a:xfrm>
          <a:prstGeom prst="downArrow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llout: freccia in giù 22">
            <a:extLst>
              <a:ext uri="{FF2B5EF4-FFF2-40B4-BE49-F238E27FC236}">
                <a16:creationId xmlns:a16="http://schemas.microsoft.com/office/drawing/2014/main" id="{E392BABE-0EAA-2DA2-4C1B-DA1AF67575C2}"/>
              </a:ext>
            </a:extLst>
          </p:cNvPr>
          <p:cNvSpPr/>
          <p:nvPr/>
        </p:nvSpPr>
        <p:spPr>
          <a:xfrm>
            <a:off x="7905666" y="3531992"/>
            <a:ext cx="2107719" cy="914400"/>
          </a:xfrm>
          <a:prstGeom prst="downArrow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C9060532-8E72-DA2E-22D0-97EB385AAF95}"/>
              </a:ext>
            </a:extLst>
          </p:cNvPr>
          <p:cNvSpPr txBox="1"/>
          <p:nvPr/>
        </p:nvSpPr>
        <p:spPr>
          <a:xfrm>
            <a:off x="10974224" y="92579"/>
            <a:ext cx="11622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it-IT" sz="1200" b="1">
                <a:ea typeface="Calibri"/>
                <a:cs typeface="Calibri"/>
              </a:rPr>
              <a:t>FVG TECHNOLOGIES</a:t>
            </a:r>
            <a:endParaRPr lang="it-IT"/>
          </a:p>
        </p:txBody>
      </p:sp>
      <p:sp>
        <p:nvSpPr>
          <p:cNvPr id="29" name="Parallelogramma 28">
            <a:extLst>
              <a:ext uri="{FF2B5EF4-FFF2-40B4-BE49-F238E27FC236}">
                <a16:creationId xmlns:a16="http://schemas.microsoft.com/office/drawing/2014/main" id="{7AE815CA-F44A-6F60-D147-93AFAF43B493}"/>
              </a:ext>
            </a:extLst>
          </p:cNvPr>
          <p:cNvSpPr/>
          <p:nvPr/>
        </p:nvSpPr>
        <p:spPr>
          <a:xfrm>
            <a:off x="10682242" y="220766"/>
            <a:ext cx="119442" cy="259222"/>
          </a:xfrm>
          <a:prstGeom prst="parallelogram">
            <a:avLst/>
          </a:prstGeom>
          <a:solidFill>
            <a:srgbClr val="368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Parallelogramma 30">
            <a:extLst>
              <a:ext uri="{FF2B5EF4-FFF2-40B4-BE49-F238E27FC236}">
                <a16:creationId xmlns:a16="http://schemas.microsoft.com/office/drawing/2014/main" id="{9F977861-A42B-E0BB-8673-F6EFCF0F7E4D}"/>
              </a:ext>
            </a:extLst>
          </p:cNvPr>
          <p:cNvSpPr/>
          <p:nvPr/>
        </p:nvSpPr>
        <p:spPr>
          <a:xfrm>
            <a:off x="10803307" y="220767"/>
            <a:ext cx="119442" cy="259222"/>
          </a:xfrm>
          <a:prstGeom prst="parallelogra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Parallelogramma 32">
            <a:extLst>
              <a:ext uri="{FF2B5EF4-FFF2-40B4-BE49-F238E27FC236}">
                <a16:creationId xmlns:a16="http://schemas.microsoft.com/office/drawing/2014/main" id="{5666317E-FBB2-96A6-A7FC-BBD72E7D02E3}"/>
              </a:ext>
            </a:extLst>
          </p:cNvPr>
          <p:cNvSpPr/>
          <p:nvPr/>
        </p:nvSpPr>
        <p:spPr>
          <a:xfrm>
            <a:off x="10924371" y="220766"/>
            <a:ext cx="119445" cy="259223"/>
          </a:xfrm>
          <a:prstGeom prst="parallelogram">
            <a:avLst/>
          </a:prstGeom>
          <a:solidFill>
            <a:srgbClr val="B87D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851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6C06FA1E-503C-53F1-54F6-D23EB7BAE3BE}"/>
              </a:ext>
            </a:extLst>
          </p:cNvPr>
          <p:cNvSpPr/>
          <p:nvPr/>
        </p:nvSpPr>
        <p:spPr>
          <a:xfrm>
            <a:off x="196696" y="145079"/>
            <a:ext cx="3980916" cy="20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kern="0" spc="160" dirty="0">
                <a:solidFill>
                  <a:srgbClr val="1F72A4"/>
                </a:solidFill>
                <a:latin typeface="Aptos"/>
              </a:rPr>
              <a:t>03  / </a:t>
            </a:r>
            <a:r>
              <a:rPr lang="en-US" sz="1100" b="1" kern="0" spc="160">
                <a:solidFill>
                  <a:srgbClr val="1F72A4"/>
                </a:solidFill>
                <a:latin typeface="Aptos"/>
              </a:rPr>
              <a:t>PREDICTIVE CHECK</a:t>
            </a:r>
            <a:endParaRPr lang="en-US" sz="1100" b="1" kern="0" spc="160" dirty="0">
              <a:solidFill>
                <a:srgbClr val="1F72A4"/>
              </a:solidFill>
              <a:latin typeface="Aptos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589D6E7-CDC0-EA16-56EE-0B3796463A80}"/>
              </a:ext>
            </a:extLst>
          </p:cNvPr>
          <p:cNvSpPr/>
          <p:nvPr/>
        </p:nvSpPr>
        <p:spPr>
          <a:xfrm>
            <a:off x="502920" y="7132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152B43"/>
                </a:solidFill>
                <a:latin typeface="Aptos"/>
              </a:rPr>
              <a:t>Prediction is useful – but the </a:t>
            </a:r>
            <a:r>
              <a:rPr lang="en-US" sz="3000" b="1">
                <a:solidFill>
                  <a:srgbClr val="152B43"/>
                </a:solidFill>
                <a:latin typeface="Aptos"/>
              </a:rPr>
              <a:t>baseline wins</a:t>
            </a:r>
            <a:endParaRPr lang="en-US" sz="3000" b="1" dirty="0">
              <a:solidFill>
                <a:srgbClr val="152B43"/>
              </a:solidFill>
              <a:latin typeface="Aptos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C789CAE-6CAB-21AF-1870-DA1442884091}"/>
              </a:ext>
            </a:extLst>
          </p:cNvPr>
          <p:cNvSpPr/>
          <p:nvPr/>
        </p:nvSpPr>
        <p:spPr>
          <a:xfrm>
            <a:off x="502920" y="1316736"/>
            <a:ext cx="11064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err="1">
                <a:solidFill>
                  <a:srgbClr val="667688"/>
                </a:solidFill>
                <a:latin typeface="Aptos"/>
              </a:rPr>
              <a:t>Models</a:t>
            </a:r>
            <a:r>
              <a:rPr lang="en-US" sz="1500">
                <a:solidFill>
                  <a:srgbClr val="667688"/>
                </a:solidFill>
                <a:latin typeface="Aptos"/>
              </a:rPr>
              <a:t> trained </a:t>
            </a:r>
            <a:r>
              <a:rPr lang="en-US" sz="1500" dirty="0">
                <a:solidFill>
                  <a:srgbClr val="667688"/>
                </a:solidFill>
                <a:latin typeface="Aptos"/>
              </a:rPr>
              <a:t>on  2021 – 2023  were tested on unseen  2024  municipality observations.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F776882-F676-9763-4BD9-42349A5A3E28}"/>
              </a:ext>
            </a:extLst>
          </p:cNvPr>
          <p:cNvSpPr/>
          <p:nvPr/>
        </p:nvSpPr>
        <p:spPr>
          <a:xfrm>
            <a:off x="502920" y="1783080"/>
            <a:ext cx="11155680" cy="0"/>
          </a:xfrm>
          <a:prstGeom prst="line">
            <a:avLst/>
          </a:prstGeom>
          <a:noFill/>
          <a:ln w="12700">
            <a:solidFill>
              <a:srgbClr val="CFD9D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DEA4090-BDF2-76AB-B515-671593EEC6FC}"/>
              </a:ext>
            </a:extLst>
          </p:cNvPr>
          <p:cNvSpPr/>
          <p:nvPr/>
        </p:nvSpPr>
        <p:spPr>
          <a:xfrm>
            <a:off x="502920" y="6492240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latin typeface="Calibri"/>
                <a:ea typeface="Calibri"/>
                <a:cs typeface="Calibri"/>
              </a:rPr>
              <a:t>ISTAT / SITUAS  •  2020–2024  •  Capstone Project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121BE22-CEE9-4E48-DAFD-93041AE1C463}"/>
              </a:ext>
            </a:extLst>
          </p:cNvPr>
          <p:cNvSpPr/>
          <p:nvPr/>
        </p:nvSpPr>
        <p:spPr>
          <a:xfrm>
            <a:off x="11045952" y="64739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endParaRPr lang="en-US" sz="1000" dirty="0">
              <a:solidFill>
                <a:srgbClr val="667688"/>
              </a:solidFill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EF4ACBB-DD84-261B-FCB5-9B5966E1EA69}"/>
              </a:ext>
            </a:extLst>
          </p:cNvPr>
          <p:cNvSpPr/>
          <p:nvPr/>
        </p:nvSpPr>
        <p:spPr>
          <a:xfrm>
            <a:off x="749808" y="22494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2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TEST MAE   •   LOWER IS BETTER</a:t>
            </a:r>
            <a:endParaRPr lang="en-US" sz="132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30044B7F-62C6-4E7C-E124-5B2AEC64F9BA}"/>
              </a:ext>
            </a:extLst>
          </p:cNvPr>
          <p:cNvSpPr/>
          <p:nvPr/>
        </p:nvSpPr>
        <p:spPr>
          <a:xfrm>
            <a:off x="749808" y="2862072"/>
            <a:ext cx="3291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10" b="1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baseline</a:t>
            </a:r>
            <a:endParaRPr lang="en-US" sz="151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D3051062-0835-03F6-CBA9-247293280E00}"/>
              </a:ext>
            </a:extLst>
          </p:cNvPr>
          <p:cNvSpPr/>
          <p:nvPr/>
        </p:nvSpPr>
        <p:spPr>
          <a:xfrm>
            <a:off x="6812280" y="2852928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74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3.67</a:t>
            </a:r>
            <a:endParaRPr lang="en-US" sz="174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9F655F12-24D9-3D7D-F2AA-657EAD3C99FA}"/>
              </a:ext>
            </a:extLst>
          </p:cNvPr>
          <p:cNvSpPr/>
          <p:nvPr/>
        </p:nvSpPr>
        <p:spPr>
          <a:xfrm>
            <a:off x="749808" y="3630168"/>
            <a:ext cx="3291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1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linear regression</a:t>
            </a:r>
            <a:endParaRPr lang="en-US" sz="151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67E122D6-8FC5-1242-73E1-762E489718D0}"/>
              </a:ext>
            </a:extLst>
          </p:cNvPr>
          <p:cNvSpPr/>
          <p:nvPr/>
        </p:nvSpPr>
        <p:spPr>
          <a:xfrm>
            <a:off x="6812280" y="362102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74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4.03</a:t>
            </a:r>
            <a:endParaRPr lang="en-US" sz="174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D125C6EC-8A76-2443-7BE2-DC3332A8E78B}"/>
              </a:ext>
            </a:extLst>
          </p:cNvPr>
          <p:cNvSpPr/>
          <p:nvPr/>
        </p:nvSpPr>
        <p:spPr>
          <a:xfrm>
            <a:off x="749808" y="4398264"/>
            <a:ext cx="3291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10" dirty="0">
                <a:solidFill>
                  <a:srgbClr val="22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regression</a:t>
            </a:r>
            <a:endParaRPr lang="en-US" sz="1510" dirty="0"/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D599629F-4461-BBB8-70FB-63A9B30ACCDD}"/>
              </a:ext>
            </a:extLst>
          </p:cNvPr>
          <p:cNvSpPr/>
          <p:nvPr/>
        </p:nvSpPr>
        <p:spPr>
          <a:xfrm>
            <a:off x="6812280" y="438912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740" b="1" dirty="0">
                <a:solidFill>
                  <a:srgbClr val="152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4.19</a:t>
            </a:r>
            <a:endParaRPr lang="en-US" sz="174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642D233A-753D-4EB3-F24A-82C8F5492579}"/>
              </a:ext>
            </a:extLst>
          </p:cNvPr>
          <p:cNvSpPr/>
          <p:nvPr/>
        </p:nvSpPr>
        <p:spPr>
          <a:xfrm>
            <a:off x="502579" y="5711554"/>
            <a:ext cx="6711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rgbClr val="667688"/>
                </a:solidFill>
                <a:latin typeface="Aptos"/>
                <a:ea typeface="Calibri"/>
                <a:cs typeface="Calibri"/>
              </a:rPr>
              <a:t>Baseline = predict the same accident count as the </a:t>
            </a:r>
            <a:r>
              <a:rPr lang="en-US" sz="1050">
                <a:solidFill>
                  <a:srgbClr val="667688"/>
                </a:solidFill>
                <a:latin typeface="Aptos"/>
                <a:ea typeface="Calibri"/>
                <a:cs typeface="Calibri"/>
              </a:rPr>
              <a:t>previous year.</a:t>
            </a:r>
            <a:endParaRPr lang="en-US" sz="1050" dirty="0">
              <a:solidFill>
                <a:srgbClr val="667688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6" name="Text 24">
            <a:extLst>
              <a:ext uri="{FF2B5EF4-FFF2-40B4-BE49-F238E27FC236}">
                <a16:creationId xmlns:a16="http://schemas.microsoft.com/office/drawing/2014/main" id="{D7139A74-EF4D-2BD6-853B-C4D67BBCD9CA}"/>
              </a:ext>
            </a:extLst>
          </p:cNvPr>
          <p:cNvSpPr/>
          <p:nvPr/>
        </p:nvSpPr>
        <p:spPr>
          <a:xfrm>
            <a:off x="8328014" y="2079408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kern="0" spc="80" dirty="0">
              <a:solidFill>
                <a:srgbClr val="168E9A"/>
              </a:solidFill>
              <a:latin typeface="Aptos"/>
            </a:endParaRPr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0F58CCD7-572D-4B5F-9096-D5B1F66E0D60}"/>
              </a:ext>
            </a:extLst>
          </p:cNvPr>
          <p:cNvSpPr/>
          <p:nvPr/>
        </p:nvSpPr>
        <p:spPr>
          <a:xfrm>
            <a:off x="8366760" y="373075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1F72A4"/>
              </a:solidFill>
              <a:latin typeface="Aptos"/>
            </a:endParaRPr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77950FBB-D544-F1CB-0D54-5E5D8C480801}"/>
              </a:ext>
            </a:extLst>
          </p:cNvPr>
          <p:cNvSpPr/>
          <p:nvPr/>
        </p:nvSpPr>
        <p:spPr>
          <a:xfrm>
            <a:off x="10231929" y="4192653"/>
            <a:ext cx="1528030" cy="19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solidFill>
                <a:srgbClr val="667688"/>
              </a:solidFill>
              <a:latin typeface="Aptos"/>
            </a:endParaRPr>
          </a:p>
        </p:txBody>
      </p:sp>
      <p:sp>
        <p:nvSpPr>
          <p:cNvPr id="21" name="Shape 30">
            <a:extLst>
              <a:ext uri="{FF2B5EF4-FFF2-40B4-BE49-F238E27FC236}">
                <a16:creationId xmlns:a16="http://schemas.microsoft.com/office/drawing/2014/main" id="{E3D43CE5-433F-09FE-2E68-327D11F28F7B}"/>
              </a:ext>
            </a:extLst>
          </p:cNvPr>
          <p:cNvSpPr/>
          <p:nvPr/>
        </p:nvSpPr>
        <p:spPr>
          <a:xfrm>
            <a:off x="8385048" y="4773168"/>
            <a:ext cx="2898648" cy="0"/>
          </a:xfrm>
          <a:prstGeom prst="line">
            <a:avLst/>
          </a:prstGeom>
          <a:noFill/>
          <a:ln w="16510">
            <a:solidFill>
              <a:srgbClr val="CFD9D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31">
            <a:extLst>
              <a:ext uri="{FF2B5EF4-FFF2-40B4-BE49-F238E27FC236}">
                <a16:creationId xmlns:a16="http://schemas.microsoft.com/office/drawing/2014/main" id="{DD623D2F-570E-DDBC-DAF4-83EF7D1FFBD1}"/>
              </a:ext>
            </a:extLst>
          </p:cNvPr>
          <p:cNvSpPr/>
          <p:nvPr/>
        </p:nvSpPr>
        <p:spPr>
          <a:xfrm>
            <a:off x="8456935" y="4914239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>
              <a:solidFill>
                <a:srgbClr val="152B43"/>
              </a:solidFill>
              <a:latin typeface="Aptos"/>
            </a:endParaRPr>
          </a:p>
        </p:txBody>
      </p:sp>
      <p:sp>
        <p:nvSpPr>
          <p:cNvPr id="23" name="Text 32">
            <a:extLst>
              <a:ext uri="{FF2B5EF4-FFF2-40B4-BE49-F238E27FC236}">
                <a16:creationId xmlns:a16="http://schemas.microsoft.com/office/drawing/2014/main" id="{29358422-660D-D7FE-6379-B0A3A2A9E488}"/>
              </a:ext>
            </a:extLst>
          </p:cNvPr>
          <p:cNvSpPr/>
          <p:nvPr/>
        </p:nvSpPr>
        <p:spPr>
          <a:xfrm>
            <a:off x="9692640" y="5001768"/>
            <a:ext cx="1664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endParaRPr lang="en-US" sz="1200" dirty="0">
              <a:solidFill>
                <a:srgbClr val="667688"/>
              </a:solidFill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56507F7D-AC1B-EA4E-EF51-9E6E0FC46692}"/>
              </a:ext>
            </a:extLst>
          </p:cNvPr>
          <p:cNvSpPr/>
          <p:nvPr/>
        </p:nvSpPr>
        <p:spPr>
          <a:xfrm flipV="1">
            <a:off x="4130601" y="2950552"/>
            <a:ext cx="2416144" cy="176725"/>
          </a:xfrm>
          <a:prstGeom prst="rightArrow">
            <a:avLst/>
          </a:prstGeom>
          <a:solidFill>
            <a:srgbClr val="368F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60FBEDFE-C08B-BCC6-8AB0-828564971A8C}"/>
              </a:ext>
            </a:extLst>
          </p:cNvPr>
          <p:cNvSpPr/>
          <p:nvPr/>
        </p:nvSpPr>
        <p:spPr>
          <a:xfrm>
            <a:off x="3874093" y="3723871"/>
            <a:ext cx="2660558" cy="18270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019A73DE-A90D-523D-3B36-00307E2EF748}"/>
              </a:ext>
            </a:extLst>
          </p:cNvPr>
          <p:cNvSpPr/>
          <p:nvPr/>
        </p:nvSpPr>
        <p:spPr>
          <a:xfrm>
            <a:off x="3676302" y="4436422"/>
            <a:ext cx="2876218" cy="182709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BD505DF3-F64F-8231-2E65-B145EFC17AD9}"/>
              </a:ext>
            </a:extLst>
          </p:cNvPr>
          <p:cNvSpPr txBox="1"/>
          <p:nvPr/>
        </p:nvSpPr>
        <p:spPr>
          <a:xfrm>
            <a:off x="8330870" y="1317247"/>
            <a:ext cx="3471475" cy="4308872"/>
          </a:xfrm>
          <a:prstGeom prst="rect">
            <a:avLst/>
          </a:prstGeom>
          <a:solidFill>
            <a:srgbClr val="465A7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>
              <a:solidFill>
                <a:srgbClr val="368FA3"/>
              </a:solidFill>
              <a:ea typeface="Calibri"/>
              <a:cs typeface="Calibri"/>
            </a:endParaRPr>
          </a:p>
          <a:p>
            <a:r>
              <a:rPr lang="it-IT" b="1">
                <a:solidFill>
                  <a:srgbClr val="B87D07"/>
                </a:solidFill>
                <a:ea typeface="Calibri"/>
                <a:cs typeface="Calibri"/>
              </a:rPr>
              <a:t>THE BUSINESS INTERPRETATION</a:t>
            </a:r>
          </a:p>
          <a:p>
            <a:endParaRPr lang="it-IT" dirty="0">
              <a:solidFill>
                <a:srgbClr val="368FA3"/>
              </a:solidFill>
              <a:ea typeface="Calibri"/>
              <a:cs typeface="Calibri"/>
            </a:endParaRPr>
          </a:p>
          <a:p>
            <a:r>
              <a:rPr lang="it-IT" b="1">
                <a:solidFill>
                  <a:schemeClr val="bg1"/>
                </a:solidFill>
                <a:ea typeface="Calibri"/>
                <a:cs typeface="Calibri"/>
              </a:rPr>
              <a:t>3.67</a:t>
            </a:r>
          </a:p>
          <a:p>
            <a:r>
              <a:rPr lang="it-IT" b="1">
                <a:solidFill>
                  <a:srgbClr val="B87D07"/>
                </a:solidFill>
                <a:ea typeface="Calibri"/>
                <a:cs typeface="Calibri"/>
              </a:rPr>
              <a:t>best MAE on 2024 test data</a:t>
            </a:r>
          </a:p>
          <a:p>
            <a:endParaRPr lang="it-IT" dirty="0">
              <a:ea typeface="Calibri"/>
              <a:cs typeface="Calibri"/>
            </a:endParaRPr>
          </a:p>
          <a:p>
            <a:pPr algn="ctr"/>
            <a:r>
              <a:rPr lang="it-IT" b="1" err="1">
                <a:solidFill>
                  <a:schemeClr val="bg1"/>
                </a:solidFill>
                <a:ea typeface="Calibri"/>
                <a:cs typeface="Calibri"/>
              </a:rPr>
              <a:t>What</a:t>
            </a:r>
            <a:r>
              <a:rPr lang="it-IT" b="1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it-IT" b="1" err="1">
                <a:solidFill>
                  <a:schemeClr val="bg1"/>
                </a:solidFill>
                <a:ea typeface="Calibri"/>
                <a:cs typeface="Calibri"/>
              </a:rPr>
              <a:t>this</a:t>
            </a:r>
            <a:r>
              <a:rPr lang="it-IT" b="1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it-IT" b="1" err="1">
                <a:solidFill>
                  <a:schemeClr val="bg1"/>
                </a:solidFill>
                <a:ea typeface="Calibri"/>
                <a:cs typeface="Calibri"/>
              </a:rPr>
              <a:t>means</a:t>
            </a:r>
            <a:r>
              <a:rPr lang="it-IT" b="1">
                <a:solidFill>
                  <a:schemeClr val="bg1"/>
                </a:solidFill>
                <a:ea typeface="Calibri"/>
                <a:cs typeface="Calibri"/>
              </a:rPr>
              <a:t> for FVG Technologies?</a:t>
            </a:r>
            <a:endParaRPr lang="it-IT" b="1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it-IT" b="1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The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persistence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baseline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achieved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the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lowest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prediction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error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(MAE 3.67),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performing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better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than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both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regression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models.</a:t>
            </a:r>
            <a:endParaRPr lang="it-IT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it-IT" sz="12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Predictions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can help FVG Technologies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understand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accident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patterns,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but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investment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decisions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should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also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consider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accident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rates,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local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needs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 and business </a:t>
            </a:r>
            <a:r>
              <a:rPr lang="it-IT" sz="1200" dirty="0" err="1">
                <a:solidFill>
                  <a:schemeClr val="bg1"/>
                </a:solidFill>
                <a:ea typeface="+mn-lt"/>
                <a:cs typeface="+mn-lt"/>
              </a:rPr>
              <a:t>opportunities</a:t>
            </a:r>
            <a:r>
              <a:rPr lang="it-IT" sz="12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endParaRPr lang="it-IT" sz="1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52A8D9E-1A1C-5625-9B8D-EB08AB93C056}"/>
              </a:ext>
            </a:extLst>
          </p:cNvPr>
          <p:cNvCxnSpPr/>
          <p:nvPr/>
        </p:nvCxnSpPr>
        <p:spPr>
          <a:xfrm>
            <a:off x="8382000" y="2841477"/>
            <a:ext cx="3375588" cy="21364"/>
          </a:xfrm>
          <a:prstGeom prst="straightConnector1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46B2E55-C303-106F-E5B4-0DD8D5AE1280}"/>
              </a:ext>
            </a:extLst>
          </p:cNvPr>
          <p:cNvSpPr txBox="1"/>
          <p:nvPr/>
        </p:nvSpPr>
        <p:spPr>
          <a:xfrm>
            <a:off x="10995588" y="56971"/>
            <a:ext cx="119783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it-IT" sz="1200" b="1">
                <a:ea typeface="Calibri"/>
                <a:cs typeface="Calibri"/>
              </a:rPr>
              <a:t>FVG TECHNOLOGIES</a:t>
            </a:r>
            <a:endParaRPr lang="it-IT" sz="1200">
              <a:ea typeface="Calibri"/>
              <a:cs typeface="Calibri"/>
            </a:endParaRPr>
          </a:p>
          <a:p>
            <a:pPr algn="l"/>
            <a:endParaRPr lang="it-IT" dirty="0">
              <a:ea typeface="Calibri"/>
              <a:cs typeface="Calibri"/>
            </a:endParaRPr>
          </a:p>
        </p:txBody>
      </p:sp>
      <p:sp>
        <p:nvSpPr>
          <p:cNvPr id="35" name="Parallelogramma 34">
            <a:extLst>
              <a:ext uri="{FF2B5EF4-FFF2-40B4-BE49-F238E27FC236}">
                <a16:creationId xmlns:a16="http://schemas.microsoft.com/office/drawing/2014/main" id="{67072DB7-6D29-D597-2E91-C57EFBB7B17A}"/>
              </a:ext>
            </a:extLst>
          </p:cNvPr>
          <p:cNvSpPr/>
          <p:nvPr/>
        </p:nvSpPr>
        <p:spPr>
          <a:xfrm>
            <a:off x="10988464" y="220766"/>
            <a:ext cx="119445" cy="259223"/>
          </a:xfrm>
          <a:prstGeom prst="parallelogram">
            <a:avLst/>
          </a:prstGeom>
          <a:solidFill>
            <a:srgbClr val="B87D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Parallelogramma 36">
            <a:extLst>
              <a:ext uri="{FF2B5EF4-FFF2-40B4-BE49-F238E27FC236}">
                <a16:creationId xmlns:a16="http://schemas.microsoft.com/office/drawing/2014/main" id="{FE363BDB-64EF-BACB-0B5A-B0D1076B070A}"/>
              </a:ext>
            </a:extLst>
          </p:cNvPr>
          <p:cNvSpPr/>
          <p:nvPr/>
        </p:nvSpPr>
        <p:spPr>
          <a:xfrm>
            <a:off x="10867400" y="220767"/>
            <a:ext cx="119442" cy="259222"/>
          </a:xfrm>
          <a:prstGeom prst="parallelogra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Parallelogramma 38">
            <a:extLst>
              <a:ext uri="{FF2B5EF4-FFF2-40B4-BE49-F238E27FC236}">
                <a16:creationId xmlns:a16="http://schemas.microsoft.com/office/drawing/2014/main" id="{B0DDD5A1-69E2-737C-55EF-9F3CBE5C1F31}"/>
              </a:ext>
            </a:extLst>
          </p:cNvPr>
          <p:cNvSpPr/>
          <p:nvPr/>
        </p:nvSpPr>
        <p:spPr>
          <a:xfrm>
            <a:off x="10746335" y="220766"/>
            <a:ext cx="119442" cy="259222"/>
          </a:xfrm>
          <a:prstGeom prst="parallelogram">
            <a:avLst/>
          </a:prstGeom>
          <a:solidFill>
            <a:srgbClr val="368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20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6">
            <a:extLst>
              <a:ext uri="{FF2B5EF4-FFF2-40B4-BE49-F238E27FC236}">
                <a16:creationId xmlns:a16="http://schemas.microsoft.com/office/drawing/2014/main" id="{1B320862-4212-AC03-8DBC-0A07D0E60AC2}"/>
              </a:ext>
            </a:extLst>
          </p:cNvPr>
          <p:cNvSpPr/>
          <p:nvPr/>
        </p:nvSpPr>
        <p:spPr>
          <a:xfrm>
            <a:off x="658368" y="749808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102A38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Five high-volume cities to assess for expansion</a:t>
            </a:r>
            <a:endParaRPr lang="en-US" sz="2700" b="1">
              <a:latin typeface="Inter Display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6C6D027-0927-CD08-51BF-7DFB2B49E512}"/>
              </a:ext>
            </a:extLst>
          </p:cNvPr>
          <p:cNvSpPr/>
          <p:nvPr/>
        </p:nvSpPr>
        <p:spPr>
          <a:xfrm>
            <a:off x="658368" y="1353312"/>
            <a:ext cx="10927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1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data-led outreach shortlist for FVG Technologies — not a confirmed sales pipeline.</a:t>
            </a:r>
            <a:endParaRPr lang="en-US" sz="111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B3E7712-A79F-9335-346D-7E6F6D0FA788}"/>
              </a:ext>
            </a:extLst>
          </p:cNvPr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11430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769607E-30AD-8EBD-EF52-4312826F9B92}"/>
              </a:ext>
            </a:extLst>
          </p:cNvPr>
          <p:cNvSpPr/>
          <p:nvPr/>
        </p:nvSpPr>
        <p:spPr>
          <a:xfrm>
            <a:off x="658368" y="649224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dirty="0">
                <a:solidFill>
                  <a:srgbClr val="687E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ISTAT / SITUAS  •  2020–2024  •  Fictional business case</a:t>
            </a:r>
            <a:endParaRPr lang="en-US" sz="75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AF1C2852-146E-A504-78AF-522BA0A2F6E4}"/>
              </a:ext>
            </a:extLst>
          </p:cNvPr>
          <p:cNvSpPr/>
          <p:nvPr/>
        </p:nvSpPr>
        <p:spPr>
          <a:xfrm>
            <a:off x="969264" y="261701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CITY</a:t>
            </a:r>
            <a:endParaRPr lang="en-US" sz="84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05DFA193-9E73-8746-6646-DB82996A75D9}"/>
              </a:ext>
            </a:extLst>
          </p:cNvPr>
          <p:cNvSpPr/>
          <p:nvPr/>
        </p:nvSpPr>
        <p:spPr>
          <a:xfrm>
            <a:off x="2322576" y="2617013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ACCIDENTS / YR</a:t>
            </a:r>
            <a:endParaRPr lang="en-US" sz="840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49256190-E5B0-2EF7-0D43-03A409A1C9AF}"/>
              </a:ext>
            </a:extLst>
          </p:cNvPr>
          <p:cNvSpPr/>
          <p:nvPr/>
        </p:nvSpPr>
        <p:spPr>
          <a:xfrm>
            <a:off x="3849624" y="2617013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PER 100K</a:t>
            </a:r>
            <a:endParaRPr lang="en-US" sz="84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12BE177D-A1A8-8770-7190-EF84EFA8A8A4}"/>
              </a:ext>
            </a:extLst>
          </p:cNvPr>
          <p:cNvSpPr/>
          <p:nvPr/>
        </p:nvSpPr>
        <p:spPr>
          <a:xfrm>
            <a:off x="5166360" y="2617013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PER KM²</a:t>
            </a:r>
            <a:endParaRPr lang="en-US" sz="84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06475B79-6BCC-1E74-0B53-D089C70B0337}"/>
              </a:ext>
            </a:extLst>
          </p:cNvPr>
          <p:cNvSpPr/>
          <p:nvPr/>
        </p:nvSpPr>
        <p:spPr>
          <a:xfrm>
            <a:off x="6501384" y="2617013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EXAMPLE COMMERCIAL CONVERSATION</a:t>
            </a:r>
            <a:endParaRPr lang="en-US" sz="84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3DD66DAF-36DD-3F9A-70C9-987D66D381DF}"/>
              </a:ext>
            </a:extLst>
          </p:cNvPr>
          <p:cNvSpPr/>
          <p:nvPr/>
        </p:nvSpPr>
        <p:spPr>
          <a:xfrm>
            <a:off x="969264" y="304495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Roma</a:t>
            </a:r>
            <a:endParaRPr lang="en-US" sz="1100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ABE0C72B-A9A9-EDB5-01EB-73239B547E2D}"/>
              </a:ext>
            </a:extLst>
          </p:cNvPr>
          <p:cNvSpPr/>
          <p:nvPr/>
        </p:nvSpPr>
        <p:spPr>
          <a:xfrm>
            <a:off x="2322576" y="304495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11,856</a:t>
            </a:r>
            <a:endParaRPr lang="en-US" sz="97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71BAC4FB-4626-C71C-F726-AA50701A443B}"/>
              </a:ext>
            </a:extLst>
          </p:cNvPr>
          <p:cNvSpPr/>
          <p:nvPr/>
        </p:nvSpPr>
        <p:spPr>
          <a:xfrm>
            <a:off x="3849624" y="304495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430.4</a:t>
            </a:r>
            <a:endParaRPr lang="en-US" sz="970" dirty="0"/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D0416390-2685-4EC9-1745-93DD3A062A32}"/>
              </a:ext>
            </a:extLst>
          </p:cNvPr>
          <p:cNvSpPr/>
          <p:nvPr/>
        </p:nvSpPr>
        <p:spPr>
          <a:xfrm>
            <a:off x="5166360" y="304495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9.20</a:t>
            </a:r>
            <a:endParaRPr lang="en-US" sz="970" dirty="0"/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60845DE9-5F06-05CA-7534-DA53930F71DA}"/>
              </a:ext>
            </a:extLst>
          </p:cNvPr>
          <p:cNvSpPr/>
          <p:nvPr/>
        </p:nvSpPr>
        <p:spPr>
          <a:xfrm>
            <a:off x="6501384" y="304495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Network-wide traffic monitoring</a:t>
            </a:r>
            <a:endParaRPr lang="en-US" sz="970" dirty="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0E3888B8-415B-C574-740A-7BF058B76802}"/>
              </a:ext>
            </a:extLst>
          </p:cNvPr>
          <p:cNvSpPr/>
          <p:nvPr/>
        </p:nvSpPr>
        <p:spPr>
          <a:xfrm>
            <a:off x="905256" y="336499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B376FD0B-3830-9165-304A-F684ACEF9CB5}"/>
              </a:ext>
            </a:extLst>
          </p:cNvPr>
          <p:cNvSpPr/>
          <p:nvPr/>
        </p:nvSpPr>
        <p:spPr>
          <a:xfrm>
            <a:off x="969264" y="343357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Milano</a:t>
            </a:r>
            <a:endParaRPr lang="en-US" sz="1100" dirty="0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9C615CAB-67AA-6C67-9BE9-72ADEE9F04DF}"/>
              </a:ext>
            </a:extLst>
          </p:cNvPr>
          <p:cNvSpPr/>
          <p:nvPr/>
        </p:nvSpPr>
        <p:spPr>
          <a:xfrm>
            <a:off x="2322576" y="343357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7,131.8</a:t>
            </a:r>
            <a:endParaRPr lang="en-US" sz="970" dirty="0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E985B335-0010-647B-F443-9B293F6884F0}"/>
              </a:ext>
            </a:extLst>
          </p:cNvPr>
          <p:cNvSpPr/>
          <p:nvPr/>
        </p:nvSpPr>
        <p:spPr>
          <a:xfrm>
            <a:off x="3849624" y="343357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522.8</a:t>
            </a:r>
            <a:endParaRPr lang="en-US" sz="970" dirty="0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5FB6C0C8-03AA-99E0-0F00-727FA011B0A3}"/>
              </a:ext>
            </a:extLst>
          </p:cNvPr>
          <p:cNvSpPr/>
          <p:nvPr/>
        </p:nvSpPr>
        <p:spPr>
          <a:xfrm>
            <a:off x="5166360" y="343357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39.23</a:t>
            </a:r>
            <a:endParaRPr lang="en-US" sz="970" dirty="0"/>
          </a:p>
        </p:txBody>
      </p:sp>
      <p:sp>
        <p:nvSpPr>
          <p:cNvPr id="27" name="Text 30">
            <a:extLst>
              <a:ext uri="{FF2B5EF4-FFF2-40B4-BE49-F238E27FC236}">
                <a16:creationId xmlns:a16="http://schemas.microsoft.com/office/drawing/2014/main" id="{421F4475-48B6-EB33-B050-302D1871294F}"/>
              </a:ext>
            </a:extLst>
          </p:cNvPr>
          <p:cNvSpPr/>
          <p:nvPr/>
        </p:nvSpPr>
        <p:spPr>
          <a:xfrm>
            <a:off x="6501384" y="343357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hotspot and junction analytics</a:t>
            </a:r>
            <a:endParaRPr lang="en-US" sz="970" dirty="0"/>
          </a:p>
        </p:txBody>
      </p:sp>
      <p:sp>
        <p:nvSpPr>
          <p:cNvPr id="28" name="Shape 31">
            <a:extLst>
              <a:ext uri="{FF2B5EF4-FFF2-40B4-BE49-F238E27FC236}">
                <a16:creationId xmlns:a16="http://schemas.microsoft.com/office/drawing/2014/main" id="{B53560FB-BEE1-5F0C-3731-0400E8754B15}"/>
              </a:ext>
            </a:extLst>
          </p:cNvPr>
          <p:cNvSpPr/>
          <p:nvPr/>
        </p:nvSpPr>
        <p:spPr>
          <a:xfrm>
            <a:off x="905256" y="375361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869F0887-EF62-80B1-5E45-BBE000E8F739}"/>
              </a:ext>
            </a:extLst>
          </p:cNvPr>
          <p:cNvSpPr/>
          <p:nvPr/>
        </p:nvSpPr>
        <p:spPr>
          <a:xfrm>
            <a:off x="969264" y="382219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Genova</a:t>
            </a:r>
            <a:endParaRPr lang="en-US" sz="1100" dirty="0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58CA2790-8C7C-8F90-B5CC-461339D33FB4}"/>
              </a:ext>
            </a:extLst>
          </p:cNvPr>
          <p:cNvSpPr/>
          <p:nvPr/>
        </p:nvSpPr>
        <p:spPr>
          <a:xfrm>
            <a:off x="2322576" y="382219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3,575</a:t>
            </a:r>
            <a:endParaRPr lang="en-US" sz="970" dirty="0"/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883048FC-5D33-69DF-48BF-75D5DDEF680A}"/>
              </a:ext>
            </a:extLst>
          </p:cNvPr>
          <p:cNvSpPr/>
          <p:nvPr/>
        </p:nvSpPr>
        <p:spPr>
          <a:xfrm>
            <a:off x="3849624" y="382219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634.9</a:t>
            </a:r>
            <a:endParaRPr lang="en-US" sz="970" dirty="0"/>
          </a:p>
        </p:txBody>
      </p:sp>
      <p:sp>
        <p:nvSpPr>
          <p:cNvPr id="32" name="Text 36">
            <a:extLst>
              <a:ext uri="{FF2B5EF4-FFF2-40B4-BE49-F238E27FC236}">
                <a16:creationId xmlns:a16="http://schemas.microsoft.com/office/drawing/2014/main" id="{F9358C4B-8BD1-5540-BC0C-17FB0BEA7334}"/>
              </a:ext>
            </a:extLst>
          </p:cNvPr>
          <p:cNvSpPr/>
          <p:nvPr/>
        </p:nvSpPr>
        <p:spPr>
          <a:xfrm>
            <a:off x="5166360" y="382219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14.86</a:t>
            </a:r>
            <a:endParaRPr lang="en-US" sz="970" dirty="0"/>
          </a:p>
        </p:txBody>
      </p:sp>
      <p:sp>
        <p:nvSpPr>
          <p:cNvPr id="33" name="Text 37">
            <a:extLst>
              <a:ext uri="{FF2B5EF4-FFF2-40B4-BE49-F238E27FC236}">
                <a16:creationId xmlns:a16="http://schemas.microsoft.com/office/drawing/2014/main" id="{655D2745-F122-0264-8E49-F19A867B1EA3}"/>
              </a:ext>
            </a:extLst>
          </p:cNvPr>
          <p:cNvSpPr/>
          <p:nvPr/>
        </p:nvSpPr>
        <p:spPr>
          <a:xfrm>
            <a:off x="6501384" y="382219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Population-adjusted safety assessment</a:t>
            </a:r>
            <a:endParaRPr lang="en-US" sz="970" dirty="0"/>
          </a:p>
        </p:txBody>
      </p:sp>
      <p:sp>
        <p:nvSpPr>
          <p:cNvPr id="34" name="Shape 38">
            <a:extLst>
              <a:ext uri="{FF2B5EF4-FFF2-40B4-BE49-F238E27FC236}">
                <a16:creationId xmlns:a16="http://schemas.microsoft.com/office/drawing/2014/main" id="{F0750B90-BE5A-698A-7316-5DA67E7A093C}"/>
              </a:ext>
            </a:extLst>
          </p:cNvPr>
          <p:cNvSpPr/>
          <p:nvPr/>
        </p:nvSpPr>
        <p:spPr>
          <a:xfrm>
            <a:off x="905256" y="414223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9">
            <a:extLst>
              <a:ext uri="{FF2B5EF4-FFF2-40B4-BE49-F238E27FC236}">
                <a16:creationId xmlns:a16="http://schemas.microsoft.com/office/drawing/2014/main" id="{1A53E6ED-A607-6DA4-F109-6CAB0253C5D4}"/>
              </a:ext>
            </a:extLst>
          </p:cNvPr>
          <p:cNvSpPr/>
          <p:nvPr/>
        </p:nvSpPr>
        <p:spPr>
          <a:xfrm>
            <a:off x="969264" y="421081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Torino</a:t>
            </a:r>
            <a:endParaRPr lang="en-US" sz="11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E973BDD1-920F-CB9B-7DF8-87123B5A0269}"/>
              </a:ext>
            </a:extLst>
          </p:cNvPr>
          <p:cNvSpPr/>
          <p:nvPr/>
        </p:nvSpPr>
        <p:spPr>
          <a:xfrm>
            <a:off x="2322576" y="421081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2,740.4</a:t>
            </a:r>
            <a:endParaRPr lang="en-US" sz="970" dirty="0"/>
          </a:p>
        </p:txBody>
      </p:sp>
      <p:sp>
        <p:nvSpPr>
          <p:cNvPr id="37" name="Text 41">
            <a:extLst>
              <a:ext uri="{FF2B5EF4-FFF2-40B4-BE49-F238E27FC236}">
                <a16:creationId xmlns:a16="http://schemas.microsoft.com/office/drawing/2014/main" id="{D7CFBED0-B02B-1199-9F70-BED24BC79D08}"/>
              </a:ext>
            </a:extLst>
          </p:cNvPr>
          <p:cNvSpPr/>
          <p:nvPr/>
        </p:nvSpPr>
        <p:spPr>
          <a:xfrm>
            <a:off x="3849624" y="421081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321.7</a:t>
            </a:r>
            <a:endParaRPr lang="en-US" sz="970" dirty="0"/>
          </a:p>
        </p:txBody>
      </p:sp>
      <p:sp>
        <p:nvSpPr>
          <p:cNvPr id="38" name="Text 42">
            <a:extLst>
              <a:ext uri="{FF2B5EF4-FFF2-40B4-BE49-F238E27FC236}">
                <a16:creationId xmlns:a16="http://schemas.microsoft.com/office/drawing/2014/main" id="{4BAF9E2A-9A58-8CCD-163C-AC7D70BB6C77}"/>
              </a:ext>
            </a:extLst>
          </p:cNvPr>
          <p:cNvSpPr/>
          <p:nvPr/>
        </p:nvSpPr>
        <p:spPr>
          <a:xfrm>
            <a:off x="5166360" y="421081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21.07</a:t>
            </a:r>
            <a:endParaRPr lang="en-US" sz="970" dirty="0"/>
          </a:p>
        </p:txBody>
      </p:sp>
      <p:sp>
        <p:nvSpPr>
          <p:cNvPr id="39" name="Text 43">
            <a:extLst>
              <a:ext uri="{FF2B5EF4-FFF2-40B4-BE49-F238E27FC236}">
                <a16:creationId xmlns:a16="http://schemas.microsoft.com/office/drawing/2014/main" id="{650F77DA-AD0C-E83D-C05A-CA547C8B90C5}"/>
              </a:ext>
            </a:extLst>
          </p:cNvPr>
          <p:cNvSpPr/>
          <p:nvPr/>
        </p:nvSpPr>
        <p:spPr>
          <a:xfrm>
            <a:off x="6501384" y="421081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Intersection and traffic-flow diagnostics</a:t>
            </a:r>
            <a:endParaRPr lang="en-US" sz="970" dirty="0"/>
          </a:p>
        </p:txBody>
      </p:sp>
      <p:sp>
        <p:nvSpPr>
          <p:cNvPr id="40" name="Shape 44">
            <a:extLst>
              <a:ext uri="{FF2B5EF4-FFF2-40B4-BE49-F238E27FC236}">
                <a16:creationId xmlns:a16="http://schemas.microsoft.com/office/drawing/2014/main" id="{99C1055D-2445-D195-4E7A-C3A2D7B99419}"/>
              </a:ext>
            </a:extLst>
          </p:cNvPr>
          <p:cNvSpPr/>
          <p:nvPr/>
        </p:nvSpPr>
        <p:spPr>
          <a:xfrm>
            <a:off x="905256" y="453085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46">
            <a:extLst>
              <a:ext uri="{FF2B5EF4-FFF2-40B4-BE49-F238E27FC236}">
                <a16:creationId xmlns:a16="http://schemas.microsoft.com/office/drawing/2014/main" id="{71C48C8C-F850-ACD0-F310-424FEBC49241}"/>
              </a:ext>
            </a:extLst>
          </p:cNvPr>
          <p:cNvSpPr/>
          <p:nvPr/>
        </p:nvSpPr>
        <p:spPr>
          <a:xfrm>
            <a:off x="969264" y="459943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Napoli</a:t>
            </a:r>
            <a:endParaRPr lang="en-US" sz="1100" dirty="0"/>
          </a:p>
        </p:txBody>
      </p:sp>
      <p:sp>
        <p:nvSpPr>
          <p:cNvPr id="42" name="Text 47">
            <a:extLst>
              <a:ext uri="{FF2B5EF4-FFF2-40B4-BE49-F238E27FC236}">
                <a16:creationId xmlns:a16="http://schemas.microsoft.com/office/drawing/2014/main" id="{05667EC2-9FBB-07B4-09C5-F9D657F93ECF}"/>
              </a:ext>
            </a:extLst>
          </p:cNvPr>
          <p:cNvSpPr/>
          <p:nvPr/>
        </p:nvSpPr>
        <p:spPr>
          <a:xfrm>
            <a:off x="2322576" y="459943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2,243.8</a:t>
            </a:r>
            <a:endParaRPr lang="en-US" sz="970" dirty="0"/>
          </a:p>
        </p:txBody>
      </p:sp>
      <p:sp>
        <p:nvSpPr>
          <p:cNvPr id="43" name="Text 48">
            <a:extLst>
              <a:ext uri="{FF2B5EF4-FFF2-40B4-BE49-F238E27FC236}">
                <a16:creationId xmlns:a16="http://schemas.microsoft.com/office/drawing/2014/main" id="{B1B76FB1-814B-461A-96A7-8C90CEB79880}"/>
              </a:ext>
            </a:extLst>
          </p:cNvPr>
          <p:cNvSpPr/>
          <p:nvPr/>
        </p:nvSpPr>
        <p:spPr>
          <a:xfrm>
            <a:off x="3849624" y="459943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244.8</a:t>
            </a:r>
            <a:endParaRPr lang="en-US" sz="970" dirty="0"/>
          </a:p>
        </p:txBody>
      </p:sp>
      <p:sp>
        <p:nvSpPr>
          <p:cNvPr id="44" name="Text 49">
            <a:extLst>
              <a:ext uri="{FF2B5EF4-FFF2-40B4-BE49-F238E27FC236}">
                <a16:creationId xmlns:a16="http://schemas.microsoft.com/office/drawing/2014/main" id="{78FE8F92-2B8D-C517-B006-14C763884769}"/>
              </a:ext>
            </a:extLst>
          </p:cNvPr>
          <p:cNvSpPr/>
          <p:nvPr/>
        </p:nvSpPr>
        <p:spPr>
          <a:xfrm>
            <a:off x="5166360" y="459943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18.83</a:t>
            </a:r>
            <a:endParaRPr lang="en-US" sz="970" dirty="0"/>
          </a:p>
        </p:txBody>
      </p:sp>
      <p:sp>
        <p:nvSpPr>
          <p:cNvPr id="45" name="Text 50">
            <a:extLst>
              <a:ext uri="{FF2B5EF4-FFF2-40B4-BE49-F238E27FC236}">
                <a16:creationId xmlns:a16="http://schemas.microsoft.com/office/drawing/2014/main" id="{7BF022C4-EBBF-0CC1-0118-A4FF5698CBDB}"/>
              </a:ext>
            </a:extLst>
          </p:cNvPr>
          <p:cNvSpPr/>
          <p:nvPr/>
        </p:nvSpPr>
        <p:spPr>
          <a:xfrm>
            <a:off x="6501384" y="459943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monitoring and risk mapping</a:t>
            </a:r>
            <a:endParaRPr lang="en-US" sz="970" dirty="0"/>
          </a:p>
        </p:txBody>
      </p:sp>
      <p:sp>
        <p:nvSpPr>
          <p:cNvPr id="46" name="Shape 51">
            <a:extLst>
              <a:ext uri="{FF2B5EF4-FFF2-40B4-BE49-F238E27FC236}">
                <a16:creationId xmlns:a16="http://schemas.microsoft.com/office/drawing/2014/main" id="{2DF66CC0-A421-DA4F-A5BD-65209F07DAC5}"/>
              </a:ext>
            </a:extLst>
          </p:cNvPr>
          <p:cNvSpPr/>
          <p:nvPr/>
        </p:nvSpPr>
        <p:spPr>
          <a:xfrm>
            <a:off x="905256" y="491947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52">
            <a:extLst>
              <a:ext uri="{FF2B5EF4-FFF2-40B4-BE49-F238E27FC236}">
                <a16:creationId xmlns:a16="http://schemas.microsoft.com/office/drawing/2014/main" id="{50676386-FD40-DA4F-31A7-6E4FF0D6BEBF}"/>
              </a:ext>
            </a:extLst>
          </p:cNvPr>
          <p:cNvSpPr/>
          <p:nvPr/>
        </p:nvSpPr>
        <p:spPr>
          <a:xfrm>
            <a:off x="932688" y="5047488"/>
            <a:ext cx="1013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" dirty="0">
                <a:solidFill>
                  <a:srgbClr val="687E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by average annual accidents among screened municipalities. Potential solutions are illustrative, not validated requirements.</a:t>
            </a:r>
            <a:endParaRPr lang="en-US" sz="840" dirty="0"/>
          </a:p>
        </p:txBody>
      </p:sp>
      <p:sp>
        <p:nvSpPr>
          <p:cNvPr id="49" name="Text 55">
            <a:extLst>
              <a:ext uri="{FF2B5EF4-FFF2-40B4-BE49-F238E27FC236}">
                <a16:creationId xmlns:a16="http://schemas.microsoft.com/office/drawing/2014/main" id="{CEAB48FB-C5EE-64A1-EF8D-FE5B383049C4}"/>
              </a:ext>
            </a:extLst>
          </p:cNvPr>
          <p:cNvSpPr/>
          <p:nvPr/>
        </p:nvSpPr>
        <p:spPr>
          <a:xfrm>
            <a:off x="804672" y="59344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687E8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50" name="Text 56">
            <a:extLst>
              <a:ext uri="{FF2B5EF4-FFF2-40B4-BE49-F238E27FC236}">
                <a16:creationId xmlns:a16="http://schemas.microsoft.com/office/drawing/2014/main" id="{30F69243-F53E-B881-94AF-EE1A0A8EAC89}"/>
              </a:ext>
            </a:extLst>
          </p:cNvPr>
          <p:cNvSpPr/>
          <p:nvPr/>
        </p:nvSpPr>
        <p:spPr>
          <a:xfrm>
            <a:off x="1271016" y="5934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4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Review city needs</a:t>
            </a:r>
            <a:endParaRPr lang="en-US" sz="1040" dirty="0"/>
          </a:p>
        </p:txBody>
      </p:sp>
      <p:sp>
        <p:nvSpPr>
          <p:cNvPr id="51" name="Text 58">
            <a:extLst>
              <a:ext uri="{FF2B5EF4-FFF2-40B4-BE49-F238E27FC236}">
                <a16:creationId xmlns:a16="http://schemas.microsoft.com/office/drawing/2014/main" id="{EF79BB6A-72D8-F957-A20E-26424C9A9803}"/>
              </a:ext>
            </a:extLst>
          </p:cNvPr>
          <p:cNvSpPr/>
          <p:nvPr/>
        </p:nvSpPr>
        <p:spPr>
          <a:xfrm>
            <a:off x="4489704" y="59344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687E8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52" name="Text 59">
            <a:extLst>
              <a:ext uri="{FF2B5EF4-FFF2-40B4-BE49-F238E27FC236}">
                <a16:creationId xmlns:a16="http://schemas.microsoft.com/office/drawing/2014/main" id="{264CA64F-6B92-BD20-7CB1-85FC506EA856}"/>
              </a:ext>
            </a:extLst>
          </p:cNvPr>
          <p:cNvSpPr/>
          <p:nvPr/>
        </p:nvSpPr>
        <p:spPr>
          <a:xfrm>
            <a:off x="4956048" y="5934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4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Check tenders &amp; budgets</a:t>
            </a:r>
            <a:endParaRPr lang="en-US" sz="1040" dirty="0"/>
          </a:p>
        </p:txBody>
      </p:sp>
      <p:sp>
        <p:nvSpPr>
          <p:cNvPr id="53" name="Text 61">
            <a:extLst>
              <a:ext uri="{FF2B5EF4-FFF2-40B4-BE49-F238E27FC236}">
                <a16:creationId xmlns:a16="http://schemas.microsoft.com/office/drawing/2014/main" id="{DF367AEC-FC29-CB31-2884-2E58ADC2697A}"/>
              </a:ext>
            </a:extLst>
          </p:cNvPr>
          <p:cNvSpPr/>
          <p:nvPr/>
        </p:nvSpPr>
        <p:spPr>
          <a:xfrm>
            <a:off x="8174736" y="59344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0F7F8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54" name="Text 62">
            <a:extLst>
              <a:ext uri="{FF2B5EF4-FFF2-40B4-BE49-F238E27FC236}">
                <a16:creationId xmlns:a16="http://schemas.microsoft.com/office/drawing/2014/main" id="{DE3852ED-69BD-D6FE-AB54-68783AA77DE1}"/>
              </a:ext>
            </a:extLst>
          </p:cNvPr>
          <p:cNvSpPr/>
          <p:nvPr/>
        </p:nvSpPr>
        <p:spPr>
          <a:xfrm>
            <a:off x="8641080" y="5934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4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Propose a pilot</a:t>
            </a:r>
            <a:endParaRPr lang="en-US" sz="1040" dirty="0"/>
          </a:p>
        </p:txBody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1CE2CCC5-D950-9ED4-F765-9EE7CE84DEAB}"/>
              </a:ext>
            </a:extLst>
          </p:cNvPr>
          <p:cNvSpPr/>
          <p:nvPr/>
        </p:nvSpPr>
        <p:spPr>
          <a:xfrm>
            <a:off x="195471" y="133827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140" dirty="0">
                <a:solidFill>
                  <a:srgbClr val="1F72A4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04  /  BUSINESS RECOMMENDATIONS</a:t>
            </a:r>
            <a:endParaRPr lang="en-US" sz="900">
              <a:solidFill>
                <a:srgbClr val="1F72A4"/>
              </a:solidFill>
              <a:latin typeface="Inter Display"/>
              <a:ea typeface="Calibri"/>
              <a:cs typeface="Calibri"/>
            </a:endParaRPr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54907F4B-29EE-466E-29F2-E1E86B4D3101}"/>
              </a:ext>
            </a:extLst>
          </p:cNvPr>
          <p:cNvSpPr/>
          <p:nvPr/>
        </p:nvSpPr>
        <p:spPr>
          <a:xfrm>
            <a:off x="629882" y="749808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700" b="1" dirty="0">
              <a:solidFill>
                <a:srgbClr val="102A38"/>
              </a:solidFill>
              <a:latin typeface="Aptos"/>
            </a:endParaRP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EAFB6170-C976-8012-C8C0-3E6CC5B41884}"/>
              </a:ext>
            </a:extLst>
          </p:cNvPr>
          <p:cNvSpPr/>
          <p:nvPr/>
        </p:nvSpPr>
        <p:spPr>
          <a:xfrm>
            <a:off x="658368" y="1353312"/>
            <a:ext cx="10927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1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data-led outreach shortlist for FVG Technologies — not a confirmed sales pipeline.</a:t>
            </a:r>
            <a:endParaRPr lang="en-US" sz="1110" dirty="0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93E5B147-5CE6-106B-1D62-764D7F1C880A}"/>
              </a:ext>
            </a:extLst>
          </p:cNvPr>
          <p:cNvSpPr/>
          <p:nvPr/>
        </p:nvSpPr>
        <p:spPr>
          <a:xfrm>
            <a:off x="658368" y="6391656"/>
            <a:ext cx="10863072" cy="0"/>
          </a:xfrm>
          <a:prstGeom prst="line">
            <a:avLst/>
          </a:prstGeom>
          <a:noFill/>
          <a:ln w="11430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759ED53F-0467-6847-F4AD-ACA1F0BBC739}"/>
              </a:ext>
            </a:extLst>
          </p:cNvPr>
          <p:cNvSpPr/>
          <p:nvPr/>
        </p:nvSpPr>
        <p:spPr>
          <a:xfrm>
            <a:off x="473209" y="6584819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ISTAT / SITUAS • 2020–2024 • Capstone Project</a:t>
            </a:r>
          </a:p>
          <a:p>
            <a:pPr marL="0" indent="0">
              <a:buNone/>
            </a:pPr>
            <a:endParaRPr lang="en-US" sz="750" dirty="0">
              <a:solidFill>
                <a:srgbClr val="687E89"/>
              </a:solidFill>
              <a:latin typeface="Inter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EB36D90B-F96B-71AE-1CEC-210409BCDAA0}"/>
              </a:ext>
            </a:extLst>
          </p:cNvPr>
          <p:cNvSpPr/>
          <p:nvPr/>
        </p:nvSpPr>
        <p:spPr>
          <a:xfrm>
            <a:off x="902180" y="2051247"/>
            <a:ext cx="9747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140" dirty="0">
                <a:solidFill>
                  <a:srgbClr val="1F72A4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SHORTLIST  /  HIGH ANNUAL ACCIDENT VOLUME</a:t>
            </a:r>
            <a:endParaRPr lang="en-US" sz="900">
              <a:solidFill>
                <a:srgbClr val="1F72A4"/>
              </a:solidFill>
              <a:latin typeface="Inter Display"/>
              <a:ea typeface="Calibri"/>
              <a:cs typeface="Calibri"/>
            </a:endParaRPr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BDFD5199-AE10-4068-C166-65D2BFD49C74}"/>
              </a:ext>
            </a:extLst>
          </p:cNvPr>
          <p:cNvSpPr/>
          <p:nvPr/>
        </p:nvSpPr>
        <p:spPr>
          <a:xfrm>
            <a:off x="969264" y="2617013"/>
            <a:ext cx="1143000" cy="164592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FFFFFF"/>
                </a:solidFill>
                <a:latin typeface="Inter Display"/>
                <a:ea typeface="Inter Display"/>
                <a:cs typeface="Inter Display" pitchFamily="34" charset="-120"/>
              </a:rPr>
              <a:t>  </a:t>
            </a:r>
            <a:r>
              <a:rPr lang="en-US" sz="800" b="1">
                <a:solidFill>
                  <a:srgbClr val="FFFFFF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CITY</a:t>
            </a:r>
            <a:endParaRPr lang="en-US" sz="800">
              <a:latin typeface="Inter Display"/>
            </a:endParaRPr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955273B7-6C2B-E0D8-4A8B-61453739A8E3}"/>
              </a:ext>
            </a:extLst>
          </p:cNvPr>
          <p:cNvSpPr/>
          <p:nvPr/>
        </p:nvSpPr>
        <p:spPr>
          <a:xfrm>
            <a:off x="2322576" y="2617013"/>
            <a:ext cx="1261872" cy="164592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FFFFFF"/>
                </a:solidFill>
                <a:latin typeface="Inter Display"/>
                <a:ea typeface="Inter Display"/>
                <a:cs typeface="Inter Display" pitchFamily="34" charset="-120"/>
              </a:rPr>
              <a:t>  </a:t>
            </a:r>
            <a:r>
              <a:rPr lang="en-US" sz="800" b="1">
                <a:solidFill>
                  <a:srgbClr val="FFFFFF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ACCIDENTS / YR</a:t>
            </a:r>
            <a:endParaRPr lang="en-US" sz="800">
              <a:latin typeface="Inter Display"/>
            </a:endParaRPr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6B7E8BE0-40A9-0192-319C-F0E986D89137}"/>
              </a:ext>
            </a:extLst>
          </p:cNvPr>
          <p:cNvSpPr/>
          <p:nvPr/>
        </p:nvSpPr>
        <p:spPr>
          <a:xfrm>
            <a:off x="3849624" y="2617013"/>
            <a:ext cx="1069848" cy="164592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FFFFFF"/>
                </a:solidFill>
                <a:latin typeface="Inter Display"/>
                <a:ea typeface="Inter Display"/>
                <a:cs typeface="Inter Display" pitchFamily="34" charset="-120"/>
              </a:rPr>
              <a:t>  </a:t>
            </a:r>
            <a:r>
              <a:rPr lang="en-US" sz="800" b="1">
                <a:solidFill>
                  <a:srgbClr val="FFFFFF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PER 100K</a:t>
            </a:r>
            <a:endParaRPr lang="en-US" sz="800">
              <a:latin typeface="Inter Display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D79E0373-29BC-041B-A9CC-25BDBBDE4189}"/>
              </a:ext>
            </a:extLst>
          </p:cNvPr>
          <p:cNvSpPr/>
          <p:nvPr/>
        </p:nvSpPr>
        <p:spPr>
          <a:xfrm>
            <a:off x="5166360" y="2617013"/>
            <a:ext cx="1005840" cy="164592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FFFFFF"/>
                </a:solidFill>
                <a:latin typeface="Inter Display"/>
                <a:ea typeface="Inter Display"/>
                <a:cs typeface="Inter Display" pitchFamily="34" charset="-120"/>
              </a:rPr>
              <a:t>   </a:t>
            </a:r>
            <a:r>
              <a:rPr lang="en-US" sz="800" b="1">
                <a:solidFill>
                  <a:srgbClr val="FFFFFF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PER KM²</a:t>
            </a:r>
            <a:endParaRPr lang="en-US" sz="800">
              <a:latin typeface="Inter Display"/>
            </a:endParaRPr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B592D496-7D52-3B63-BF94-38B49741641A}"/>
              </a:ext>
            </a:extLst>
          </p:cNvPr>
          <p:cNvSpPr/>
          <p:nvPr/>
        </p:nvSpPr>
        <p:spPr>
          <a:xfrm>
            <a:off x="6423047" y="2617014"/>
            <a:ext cx="2364338" cy="200199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solidFill>
                  <a:srgbClr val="FFFFFF"/>
                </a:solidFill>
                <a:latin typeface="Inter Display"/>
                <a:ea typeface="Inter Display"/>
                <a:cs typeface="Inter Display" pitchFamily="34" charset="-120"/>
              </a:rPr>
              <a:t>   </a:t>
            </a:r>
            <a:r>
              <a:rPr lang="en-US" sz="800" b="1">
                <a:solidFill>
                  <a:srgbClr val="FFFFFF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EXAMPLE COMMERCIAL CONVERSATION</a:t>
            </a:r>
            <a:endParaRPr lang="en-US" sz="800">
              <a:latin typeface="Inter Display"/>
            </a:endParaRPr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4668D955-0DA9-7122-8723-312A6B4DAF81}"/>
              </a:ext>
            </a:extLst>
          </p:cNvPr>
          <p:cNvSpPr/>
          <p:nvPr/>
        </p:nvSpPr>
        <p:spPr>
          <a:xfrm>
            <a:off x="969264" y="304495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Roma</a:t>
            </a:r>
            <a:endParaRPr lang="en-US" sz="1100" dirty="0"/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A637751B-F073-5580-B444-628FFD74F80F}"/>
              </a:ext>
            </a:extLst>
          </p:cNvPr>
          <p:cNvSpPr/>
          <p:nvPr/>
        </p:nvSpPr>
        <p:spPr>
          <a:xfrm>
            <a:off x="2322576" y="304495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11,856</a:t>
            </a:r>
            <a:endParaRPr lang="en-US" sz="970" dirty="0"/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F4E1E551-CEE0-D85E-A751-1CE42394B5FB}"/>
              </a:ext>
            </a:extLst>
          </p:cNvPr>
          <p:cNvSpPr/>
          <p:nvPr/>
        </p:nvSpPr>
        <p:spPr>
          <a:xfrm>
            <a:off x="3849624" y="304495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430.4</a:t>
            </a:r>
            <a:endParaRPr lang="en-US" sz="970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5EAE78B0-628E-EAFA-79DB-55D2BFBA197F}"/>
              </a:ext>
            </a:extLst>
          </p:cNvPr>
          <p:cNvSpPr/>
          <p:nvPr/>
        </p:nvSpPr>
        <p:spPr>
          <a:xfrm>
            <a:off x="5166360" y="304495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9.20</a:t>
            </a:r>
            <a:endParaRPr lang="en-US" sz="970" dirty="0"/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A24BBEC6-1B15-045B-7862-1668885CD956}"/>
              </a:ext>
            </a:extLst>
          </p:cNvPr>
          <p:cNvSpPr/>
          <p:nvPr/>
        </p:nvSpPr>
        <p:spPr>
          <a:xfrm>
            <a:off x="6501384" y="304495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Network-wide traffic monitoring</a:t>
            </a:r>
            <a:endParaRPr lang="en-US" sz="970" dirty="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6283D59F-393A-E25A-31B7-FD69ED7CFE1D}"/>
              </a:ext>
            </a:extLst>
          </p:cNvPr>
          <p:cNvSpPr/>
          <p:nvPr/>
        </p:nvSpPr>
        <p:spPr>
          <a:xfrm>
            <a:off x="905256" y="336499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F333744D-BD85-9797-8E7C-9C2046634116}"/>
              </a:ext>
            </a:extLst>
          </p:cNvPr>
          <p:cNvSpPr/>
          <p:nvPr/>
        </p:nvSpPr>
        <p:spPr>
          <a:xfrm>
            <a:off x="969264" y="343357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Milano</a:t>
            </a:r>
            <a:endParaRPr lang="en-US" sz="1100" dirty="0"/>
          </a:p>
        </p:txBody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1E1E25F2-5B94-02B7-379C-1E5EAA705A5E}"/>
              </a:ext>
            </a:extLst>
          </p:cNvPr>
          <p:cNvSpPr/>
          <p:nvPr/>
        </p:nvSpPr>
        <p:spPr>
          <a:xfrm>
            <a:off x="2322576" y="343357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7,131.8</a:t>
            </a:r>
            <a:endParaRPr lang="en-US" sz="970" dirty="0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0CC44BE1-FE96-75D6-729B-85151F698DAD}"/>
              </a:ext>
            </a:extLst>
          </p:cNvPr>
          <p:cNvSpPr/>
          <p:nvPr/>
        </p:nvSpPr>
        <p:spPr>
          <a:xfrm>
            <a:off x="3849624" y="343357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522.8</a:t>
            </a:r>
            <a:endParaRPr lang="en-US" sz="970" dirty="0"/>
          </a:p>
        </p:txBody>
      </p:sp>
      <p:sp>
        <p:nvSpPr>
          <p:cNvPr id="77" name="Text 29">
            <a:extLst>
              <a:ext uri="{FF2B5EF4-FFF2-40B4-BE49-F238E27FC236}">
                <a16:creationId xmlns:a16="http://schemas.microsoft.com/office/drawing/2014/main" id="{6B84C5DA-F3B3-9F3C-A653-D11C8E46A1DD}"/>
              </a:ext>
            </a:extLst>
          </p:cNvPr>
          <p:cNvSpPr/>
          <p:nvPr/>
        </p:nvSpPr>
        <p:spPr>
          <a:xfrm>
            <a:off x="5166360" y="343357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39.23</a:t>
            </a:r>
            <a:endParaRPr lang="en-US" sz="970" dirty="0"/>
          </a:p>
        </p:txBody>
      </p:sp>
      <p:sp>
        <p:nvSpPr>
          <p:cNvPr id="78" name="Text 30">
            <a:extLst>
              <a:ext uri="{FF2B5EF4-FFF2-40B4-BE49-F238E27FC236}">
                <a16:creationId xmlns:a16="http://schemas.microsoft.com/office/drawing/2014/main" id="{53BD621E-6EFA-E989-B6AC-0E1EA187C3DC}"/>
              </a:ext>
            </a:extLst>
          </p:cNvPr>
          <p:cNvSpPr/>
          <p:nvPr/>
        </p:nvSpPr>
        <p:spPr>
          <a:xfrm>
            <a:off x="6501384" y="343357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hotspot and junction analytics</a:t>
            </a:r>
            <a:endParaRPr lang="en-US" sz="970" dirty="0"/>
          </a:p>
        </p:txBody>
      </p:sp>
      <p:sp>
        <p:nvSpPr>
          <p:cNvPr id="79" name="Shape 31">
            <a:extLst>
              <a:ext uri="{FF2B5EF4-FFF2-40B4-BE49-F238E27FC236}">
                <a16:creationId xmlns:a16="http://schemas.microsoft.com/office/drawing/2014/main" id="{F592FE2D-168A-8A2C-AE9F-974AAB97B465}"/>
              </a:ext>
            </a:extLst>
          </p:cNvPr>
          <p:cNvSpPr/>
          <p:nvPr/>
        </p:nvSpPr>
        <p:spPr>
          <a:xfrm>
            <a:off x="905256" y="375361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33">
            <a:extLst>
              <a:ext uri="{FF2B5EF4-FFF2-40B4-BE49-F238E27FC236}">
                <a16:creationId xmlns:a16="http://schemas.microsoft.com/office/drawing/2014/main" id="{B54E1AEC-B35F-D1F6-1C63-BF3432C5AE30}"/>
              </a:ext>
            </a:extLst>
          </p:cNvPr>
          <p:cNvSpPr/>
          <p:nvPr/>
        </p:nvSpPr>
        <p:spPr>
          <a:xfrm>
            <a:off x="969264" y="382219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Genova</a:t>
            </a:r>
            <a:endParaRPr lang="en-US" sz="1100" dirty="0"/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DF2F80C3-83A0-EC67-0A47-15E7B29D2FE7}"/>
              </a:ext>
            </a:extLst>
          </p:cNvPr>
          <p:cNvSpPr/>
          <p:nvPr/>
        </p:nvSpPr>
        <p:spPr>
          <a:xfrm>
            <a:off x="2322576" y="382219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3,575</a:t>
            </a:r>
            <a:endParaRPr lang="en-US" sz="970" dirty="0"/>
          </a:p>
        </p:txBody>
      </p:sp>
      <p:sp>
        <p:nvSpPr>
          <p:cNvPr id="82" name="Text 35">
            <a:extLst>
              <a:ext uri="{FF2B5EF4-FFF2-40B4-BE49-F238E27FC236}">
                <a16:creationId xmlns:a16="http://schemas.microsoft.com/office/drawing/2014/main" id="{0830CA2A-BC09-DB3A-022A-7B0B7BC23790}"/>
              </a:ext>
            </a:extLst>
          </p:cNvPr>
          <p:cNvSpPr/>
          <p:nvPr/>
        </p:nvSpPr>
        <p:spPr>
          <a:xfrm>
            <a:off x="3849624" y="382219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634.9</a:t>
            </a:r>
            <a:endParaRPr lang="en-US" sz="970" dirty="0"/>
          </a:p>
        </p:txBody>
      </p:sp>
      <p:sp>
        <p:nvSpPr>
          <p:cNvPr id="83" name="Text 36">
            <a:extLst>
              <a:ext uri="{FF2B5EF4-FFF2-40B4-BE49-F238E27FC236}">
                <a16:creationId xmlns:a16="http://schemas.microsoft.com/office/drawing/2014/main" id="{AC63D7C5-12F7-8183-CB4D-6EC15087655F}"/>
              </a:ext>
            </a:extLst>
          </p:cNvPr>
          <p:cNvSpPr/>
          <p:nvPr/>
        </p:nvSpPr>
        <p:spPr>
          <a:xfrm>
            <a:off x="5166360" y="382219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14.86</a:t>
            </a:r>
            <a:endParaRPr lang="en-US" sz="970" dirty="0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2DD50669-E251-235E-4352-C2B1241E4D4D}"/>
              </a:ext>
            </a:extLst>
          </p:cNvPr>
          <p:cNvSpPr/>
          <p:nvPr/>
        </p:nvSpPr>
        <p:spPr>
          <a:xfrm>
            <a:off x="6501384" y="382219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Population-adjusted safety assessment</a:t>
            </a:r>
            <a:endParaRPr lang="en-US" sz="970" dirty="0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F2E8E8AE-23FF-830F-45D9-B6663483FBB9}"/>
              </a:ext>
            </a:extLst>
          </p:cNvPr>
          <p:cNvSpPr/>
          <p:nvPr/>
        </p:nvSpPr>
        <p:spPr>
          <a:xfrm>
            <a:off x="905256" y="414223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39">
            <a:extLst>
              <a:ext uri="{FF2B5EF4-FFF2-40B4-BE49-F238E27FC236}">
                <a16:creationId xmlns:a16="http://schemas.microsoft.com/office/drawing/2014/main" id="{7765802D-CC55-4240-65F7-374263A5CC12}"/>
              </a:ext>
            </a:extLst>
          </p:cNvPr>
          <p:cNvSpPr/>
          <p:nvPr/>
        </p:nvSpPr>
        <p:spPr>
          <a:xfrm>
            <a:off x="969264" y="421081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Torino</a:t>
            </a:r>
            <a:endParaRPr lang="en-US" sz="1100" dirty="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117A244D-6E26-D3E3-1FE3-AC7BDDA3893B}"/>
              </a:ext>
            </a:extLst>
          </p:cNvPr>
          <p:cNvSpPr/>
          <p:nvPr/>
        </p:nvSpPr>
        <p:spPr>
          <a:xfrm>
            <a:off x="2322576" y="421081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2,740.4</a:t>
            </a:r>
            <a:endParaRPr lang="en-US" sz="970" dirty="0"/>
          </a:p>
        </p:txBody>
      </p:sp>
      <p:sp>
        <p:nvSpPr>
          <p:cNvPr id="88" name="Text 41">
            <a:extLst>
              <a:ext uri="{FF2B5EF4-FFF2-40B4-BE49-F238E27FC236}">
                <a16:creationId xmlns:a16="http://schemas.microsoft.com/office/drawing/2014/main" id="{A6B413E2-B9EE-256E-4B00-28987DC72FE4}"/>
              </a:ext>
            </a:extLst>
          </p:cNvPr>
          <p:cNvSpPr/>
          <p:nvPr/>
        </p:nvSpPr>
        <p:spPr>
          <a:xfrm>
            <a:off x="3849624" y="421081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321.7</a:t>
            </a:r>
            <a:endParaRPr lang="en-US" sz="970" dirty="0"/>
          </a:p>
        </p:txBody>
      </p:sp>
      <p:sp>
        <p:nvSpPr>
          <p:cNvPr id="89" name="Text 42">
            <a:extLst>
              <a:ext uri="{FF2B5EF4-FFF2-40B4-BE49-F238E27FC236}">
                <a16:creationId xmlns:a16="http://schemas.microsoft.com/office/drawing/2014/main" id="{2058A5E3-BE2F-D2F7-1337-A7A520B6C5F2}"/>
              </a:ext>
            </a:extLst>
          </p:cNvPr>
          <p:cNvSpPr/>
          <p:nvPr/>
        </p:nvSpPr>
        <p:spPr>
          <a:xfrm>
            <a:off x="5166360" y="421081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21.07</a:t>
            </a:r>
            <a:endParaRPr lang="en-US" sz="970" dirty="0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4B366B5F-4C2B-1CCD-8C1B-3355251F8B73}"/>
              </a:ext>
            </a:extLst>
          </p:cNvPr>
          <p:cNvSpPr/>
          <p:nvPr/>
        </p:nvSpPr>
        <p:spPr>
          <a:xfrm>
            <a:off x="6501384" y="421081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Intersection and traffic-flow diagnostics</a:t>
            </a:r>
            <a:endParaRPr lang="en-US" sz="97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6740B146-93B9-E50A-FBD4-282192A6E20E}"/>
              </a:ext>
            </a:extLst>
          </p:cNvPr>
          <p:cNvSpPr/>
          <p:nvPr/>
        </p:nvSpPr>
        <p:spPr>
          <a:xfrm>
            <a:off x="905256" y="453085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Text 46">
            <a:extLst>
              <a:ext uri="{FF2B5EF4-FFF2-40B4-BE49-F238E27FC236}">
                <a16:creationId xmlns:a16="http://schemas.microsoft.com/office/drawing/2014/main" id="{4032F120-8E81-CC76-858A-8E87517B3F37}"/>
              </a:ext>
            </a:extLst>
          </p:cNvPr>
          <p:cNvSpPr/>
          <p:nvPr/>
        </p:nvSpPr>
        <p:spPr>
          <a:xfrm>
            <a:off x="969264" y="4599432"/>
            <a:ext cx="1133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Napoli</a:t>
            </a:r>
            <a:endParaRPr lang="en-US" sz="1100" dirty="0"/>
          </a:p>
        </p:txBody>
      </p:sp>
      <p:sp>
        <p:nvSpPr>
          <p:cNvPr id="93" name="Text 47">
            <a:extLst>
              <a:ext uri="{FF2B5EF4-FFF2-40B4-BE49-F238E27FC236}">
                <a16:creationId xmlns:a16="http://schemas.microsoft.com/office/drawing/2014/main" id="{CB1013D6-EBAB-3881-7629-7A042619F223}"/>
              </a:ext>
            </a:extLst>
          </p:cNvPr>
          <p:cNvSpPr/>
          <p:nvPr/>
        </p:nvSpPr>
        <p:spPr>
          <a:xfrm>
            <a:off x="2322576" y="4599432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2,243.8</a:t>
            </a:r>
            <a:endParaRPr lang="en-US" sz="970" dirty="0"/>
          </a:p>
        </p:txBody>
      </p:sp>
      <p:sp>
        <p:nvSpPr>
          <p:cNvPr id="94" name="Text 48">
            <a:extLst>
              <a:ext uri="{FF2B5EF4-FFF2-40B4-BE49-F238E27FC236}">
                <a16:creationId xmlns:a16="http://schemas.microsoft.com/office/drawing/2014/main" id="{458EC84E-3C82-820D-5827-00B0D71C0C13}"/>
              </a:ext>
            </a:extLst>
          </p:cNvPr>
          <p:cNvSpPr/>
          <p:nvPr/>
        </p:nvSpPr>
        <p:spPr>
          <a:xfrm>
            <a:off x="3849624" y="459943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244.8</a:t>
            </a:r>
            <a:endParaRPr lang="en-US" sz="970" dirty="0"/>
          </a:p>
        </p:txBody>
      </p:sp>
      <p:sp>
        <p:nvSpPr>
          <p:cNvPr id="95" name="Text 49">
            <a:extLst>
              <a:ext uri="{FF2B5EF4-FFF2-40B4-BE49-F238E27FC236}">
                <a16:creationId xmlns:a16="http://schemas.microsoft.com/office/drawing/2014/main" id="{93EE4872-0806-137E-C87F-FDA64C507433}"/>
              </a:ext>
            </a:extLst>
          </p:cNvPr>
          <p:cNvSpPr/>
          <p:nvPr/>
        </p:nvSpPr>
        <p:spPr>
          <a:xfrm>
            <a:off x="5166360" y="4599432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18.83</a:t>
            </a:r>
            <a:endParaRPr lang="en-US" sz="970" dirty="0"/>
          </a:p>
        </p:txBody>
      </p:sp>
      <p:sp>
        <p:nvSpPr>
          <p:cNvPr id="96" name="Text 50">
            <a:extLst>
              <a:ext uri="{FF2B5EF4-FFF2-40B4-BE49-F238E27FC236}">
                <a16:creationId xmlns:a16="http://schemas.microsoft.com/office/drawing/2014/main" id="{44C8C409-AE4A-29E6-0A44-3B1EF98CBD7D}"/>
              </a:ext>
            </a:extLst>
          </p:cNvPr>
          <p:cNvSpPr/>
          <p:nvPr/>
        </p:nvSpPr>
        <p:spPr>
          <a:xfrm>
            <a:off x="6501384" y="4599432"/>
            <a:ext cx="4562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0" dirty="0">
                <a:solidFill>
                  <a:srgbClr val="435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monitoring and risk mapping</a:t>
            </a:r>
            <a:endParaRPr lang="en-US" sz="970" dirty="0"/>
          </a:p>
        </p:txBody>
      </p:sp>
      <p:sp>
        <p:nvSpPr>
          <p:cNvPr id="97" name="Shape 51">
            <a:extLst>
              <a:ext uri="{FF2B5EF4-FFF2-40B4-BE49-F238E27FC236}">
                <a16:creationId xmlns:a16="http://schemas.microsoft.com/office/drawing/2014/main" id="{5E48E8F5-C898-E3BA-3A21-1C1E2BD5D7C7}"/>
              </a:ext>
            </a:extLst>
          </p:cNvPr>
          <p:cNvSpPr/>
          <p:nvPr/>
        </p:nvSpPr>
        <p:spPr>
          <a:xfrm>
            <a:off x="905256" y="4919472"/>
            <a:ext cx="10351008" cy="0"/>
          </a:xfrm>
          <a:prstGeom prst="line">
            <a:avLst/>
          </a:prstGeom>
          <a:noFill/>
          <a:ln w="6985">
            <a:solidFill>
              <a:srgbClr val="DDE8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Text 52">
            <a:extLst>
              <a:ext uri="{FF2B5EF4-FFF2-40B4-BE49-F238E27FC236}">
                <a16:creationId xmlns:a16="http://schemas.microsoft.com/office/drawing/2014/main" id="{99359476-614A-A050-91B2-3FD0D19091AE}"/>
              </a:ext>
            </a:extLst>
          </p:cNvPr>
          <p:cNvSpPr/>
          <p:nvPr/>
        </p:nvSpPr>
        <p:spPr>
          <a:xfrm>
            <a:off x="932688" y="5047488"/>
            <a:ext cx="1013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40" dirty="0">
                <a:solidFill>
                  <a:srgbClr val="687E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by average annual accidents among screened municipalities. Potential solutions are illustrative, not validated requirements.</a:t>
            </a:r>
            <a:endParaRPr lang="en-US" sz="840" dirty="0"/>
          </a:p>
        </p:txBody>
      </p:sp>
      <p:sp>
        <p:nvSpPr>
          <p:cNvPr id="99" name="Text 53">
            <a:extLst>
              <a:ext uri="{FF2B5EF4-FFF2-40B4-BE49-F238E27FC236}">
                <a16:creationId xmlns:a16="http://schemas.microsoft.com/office/drawing/2014/main" id="{AACE357A-1C30-1257-26BA-356E6142264E}"/>
              </a:ext>
            </a:extLst>
          </p:cNvPr>
          <p:cNvSpPr/>
          <p:nvPr/>
        </p:nvSpPr>
        <p:spPr>
          <a:xfrm>
            <a:off x="804843" y="55574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140" dirty="0">
                <a:solidFill>
                  <a:srgbClr val="1F72A4"/>
                </a:solidFill>
                <a:latin typeface="Inter Display"/>
                <a:ea typeface="Inter Display" pitchFamily="34" charset="-122"/>
                <a:cs typeface="Inter Display" pitchFamily="34" charset="-120"/>
              </a:rPr>
              <a:t>SUGGESTED NEXT STEPS</a:t>
            </a:r>
            <a:endParaRPr lang="en-US" sz="900">
              <a:solidFill>
                <a:srgbClr val="1F72A4"/>
              </a:solidFill>
              <a:latin typeface="Inter Display"/>
              <a:ea typeface="Calibri"/>
              <a:cs typeface="Calibri"/>
            </a:endParaRPr>
          </a:p>
        </p:txBody>
      </p:sp>
      <p:sp>
        <p:nvSpPr>
          <p:cNvPr id="100" name="Text 55">
            <a:extLst>
              <a:ext uri="{FF2B5EF4-FFF2-40B4-BE49-F238E27FC236}">
                <a16:creationId xmlns:a16="http://schemas.microsoft.com/office/drawing/2014/main" id="{31E9C741-F635-301A-9CA9-C8511A8286BF}"/>
              </a:ext>
            </a:extLst>
          </p:cNvPr>
          <p:cNvSpPr/>
          <p:nvPr/>
        </p:nvSpPr>
        <p:spPr>
          <a:xfrm>
            <a:off x="804672" y="59344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687E8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101" name="Text 56">
            <a:extLst>
              <a:ext uri="{FF2B5EF4-FFF2-40B4-BE49-F238E27FC236}">
                <a16:creationId xmlns:a16="http://schemas.microsoft.com/office/drawing/2014/main" id="{301D756D-6C13-7D72-DB21-8F244CABBEF4}"/>
              </a:ext>
            </a:extLst>
          </p:cNvPr>
          <p:cNvSpPr/>
          <p:nvPr/>
        </p:nvSpPr>
        <p:spPr>
          <a:xfrm>
            <a:off x="1271016" y="5934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4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Review city needs</a:t>
            </a:r>
            <a:endParaRPr lang="en-US" sz="1040" dirty="0"/>
          </a:p>
        </p:txBody>
      </p:sp>
      <p:sp>
        <p:nvSpPr>
          <p:cNvPr id="102" name="Text 58">
            <a:extLst>
              <a:ext uri="{FF2B5EF4-FFF2-40B4-BE49-F238E27FC236}">
                <a16:creationId xmlns:a16="http://schemas.microsoft.com/office/drawing/2014/main" id="{FB65B4D4-E9E7-DEF8-2578-E2AD7C1526E5}"/>
              </a:ext>
            </a:extLst>
          </p:cNvPr>
          <p:cNvSpPr/>
          <p:nvPr/>
        </p:nvSpPr>
        <p:spPr>
          <a:xfrm>
            <a:off x="4489704" y="59344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687E8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03" name="Text 59">
            <a:extLst>
              <a:ext uri="{FF2B5EF4-FFF2-40B4-BE49-F238E27FC236}">
                <a16:creationId xmlns:a16="http://schemas.microsoft.com/office/drawing/2014/main" id="{2740C218-3A76-4C51-92D2-00A938C4E30C}"/>
              </a:ext>
            </a:extLst>
          </p:cNvPr>
          <p:cNvSpPr/>
          <p:nvPr/>
        </p:nvSpPr>
        <p:spPr>
          <a:xfrm>
            <a:off x="4956048" y="5934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4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Check tenders &amp; budgets</a:t>
            </a:r>
            <a:endParaRPr lang="en-US" sz="1040" dirty="0"/>
          </a:p>
        </p:txBody>
      </p:sp>
      <p:sp>
        <p:nvSpPr>
          <p:cNvPr id="104" name="Text 61">
            <a:extLst>
              <a:ext uri="{FF2B5EF4-FFF2-40B4-BE49-F238E27FC236}">
                <a16:creationId xmlns:a16="http://schemas.microsoft.com/office/drawing/2014/main" id="{46FE539D-014F-37E7-DC01-380CC5E5AD8D}"/>
              </a:ext>
            </a:extLst>
          </p:cNvPr>
          <p:cNvSpPr/>
          <p:nvPr/>
        </p:nvSpPr>
        <p:spPr>
          <a:xfrm>
            <a:off x="8174736" y="59344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0F7F8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105" name="Text 62">
            <a:extLst>
              <a:ext uri="{FF2B5EF4-FFF2-40B4-BE49-F238E27FC236}">
                <a16:creationId xmlns:a16="http://schemas.microsoft.com/office/drawing/2014/main" id="{C344C0EA-4665-61FF-2885-93365DDABA25}"/>
              </a:ext>
            </a:extLst>
          </p:cNvPr>
          <p:cNvSpPr/>
          <p:nvPr/>
        </p:nvSpPr>
        <p:spPr>
          <a:xfrm>
            <a:off x="8641080" y="59344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40" b="1" dirty="0">
                <a:solidFill>
                  <a:srgbClr val="102A3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Propose a pilot</a:t>
            </a:r>
            <a:endParaRPr lang="en-US" sz="1040" dirty="0"/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BD6B0DA1-1F89-A21E-3686-1E7A5516A57D}"/>
              </a:ext>
            </a:extLst>
          </p:cNvPr>
          <p:cNvSpPr txBox="1"/>
          <p:nvPr/>
        </p:nvSpPr>
        <p:spPr>
          <a:xfrm>
            <a:off x="10803308" y="7122"/>
            <a:ext cx="141860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it-IT" sz="1200" b="1">
                <a:ea typeface="Calibri"/>
                <a:cs typeface="Calibri"/>
              </a:rPr>
              <a:t>FVG TECHNOLOGIES</a:t>
            </a:r>
            <a:endParaRPr lang="it-IT" sz="1200">
              <a:ea typeface="Calibri"/>
              <a:cs typeface="Calibri"/>
            </a:endParaRPr>
          </a:p>
          <a:p>
            <a:pPr algn="l"/>
            <a:endParaRPr lang="it-IT" dirty="0">
              <a:ea typeface="Calibri"/>
              <a:cs typeface="Calibri"/>
            </a:endParaRPr>
          </a:p>
        </p:txBody>
      </p:sp>
      <p:sp>
        <p:nvSpPr>
          <p:cNvPr id="108" name="Parallelogramma 107">
            <a:extLst>
              <a:ext uri="{FF2B5EF4-FFF2-40B4-BE49-F238E27FC236}">
                <a16:creationId xmlns:a16="http://schemas.microsoft.com/office/drawing/2014/main" id="{DF613418-0C9E-341A-5987-55E8368F9548}"/>
              </a:ext>
            </a:extLst>
          </p:cNvPr>
          <p:cNvSpPr/>
          <p:nvPr/>
        </p:nvSpPr>
        <p:spPr>
          <a:xfrm>
            <a:off x="11024071" y="121065"/>
            <a:ext cx="119445" cy="259223"/>
          </a:xfrm>
          <a:prstGeom prst="parallelogram">
            <a:avLst/>
          </a:prstGeom>
          <a:solidFill>
            <a:srgbClr val="B87D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0" name="Parallelogramma 109">
            <a:extLst>
              <a:ext uri="{FF2B5EF4-FFF2-40B4-BE49-F238E27FC236}">
                <a16:creationId xmlns:a16="http://schemas.microsoft.com/office/drawing/2014/main" id="{EDCD36F0-93B6-E066-3CE2-F4ECE80CB6B0}"/>
              </a:ext>
            </a:extLst>
          </p:cNvPr>
          <p:cNvSpPr/>
          <p:nvPr/>
        </p:nvSpPr>
        <p:spPr>
          <a:xfrm>
            <a:off x="10903007" y="121066"/>
            <a:ext cx="119442" cy="259222"/>
          </a:xfrm>
          <a:prstGeom prst="parallelogra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2" name="Parallelogramma 111">
            <a:extLst>
              <a:ext uri="{FF2B5EF4-FFF2-40B4-BE49-F238E27FC236}">
                <a16:creationId xmlns:a16="http://schemas.microsoft.com/office/drawing/2014/main" id="{125EF7FD-54FD-AB13-E6E6-DDD0E853E2C3}"/>
              </a:ext>
            </a:extLst>
          </p:cNvPr>
          <p:cNvSpPr/>
          <p:nvPr/>
        </p:nvSpPr>
        <p:spPr>
          <a:xfrm>
            <a:off x="10774821" y="121065"/>
            <a:ext cx="119442" cy="259222"/>
          </a:xfrm>
          <a:prstGeom prst="parallelogram">
            <a:avLst/>
          </a:prstGeom>
          <a:solidFill>
            <a:srgbClr val="368F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73302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Широкий екран</PresentationFormat>
  <Paragraphs>0</Paragraphs>
  <Slides>5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6" baseType="lpstr">
      <vt:lpstr>Retrospect</vt:lpstr>
      <vt:lpstr> Where should we expand next in Italy?</vt:lpstr>
      <vt:lpstr>Not all accident signals tell the same story.  Different indicators help FVG Technologies identify different types of market opportunities. 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1353</cp:revision>
  <dcterms:created xsi:type="dcterms:W3CDTF">2026-10-13T08:37:47Z</dcterms:created>
  <dcterms:modified xsi:type="dcterms:W3CDTF">2026-10-16T15:39:15Z</dcterms:modified>
</cp:coreProperties>
</file>